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Guten Tag, ich präsentiere heute mein Data-Science-Projekt. Das Thema ist der Einfluss von Iran-kriegbezogenen Ereignissen auf Öl, Gold und den EUR/USD-Wechselkurs. Der Fokus liegt nicht auf perfekter Marktvorhersage, sondern auf einer einfachen, nachvollziehbaren Analyse mit echten CSV-Daten.
Persian meaning:
سلام، امروز پروژه دیتا ساینس خودم را ارائه می‌دهم. موضوع اثر رویدادهای مرتبط با جنگ ایران روی نفت، طلا و EUR/USD است. هدف پیش‌بینی کامل بازار نیست، بلکه تحلیل ساده و قابل فهم با داده واقعی CSV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Die Motivation ist, dass geopolitische Spannungen oft die Finanzmärkte beeinflussen. Meine Forschungsfrage lautet: Kann man in den Daten sichtbare Veränderungen bei Öl, Gold und EUR/USD rund um Iran-bezogene Kriegsereignisse erkennen? Wichtig ist: Ich beweise keine Kausalität, sondern untersuche Zusammenhänge in den Daten.
Persian meaning:
انگیزه پروژه این است که تنش‌های ژئوپلیتیکی معمولاً روی بازارهای مالی اثر می‌گذارند. سؤال تحقیق این است که آیا اطراف رویدادهای مرتبط با جنگ ایران تغییرات قابل مشاهده در نفت، طلا و EUR/USD دیده می‌شود؟ نکته مهم: من علت و معلول را ثابت نمی‌کنم، فقط ارتباط و الگو را بررسی می‌کنم.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sieht man die Datenbasis und die Projektstruktur. Alle CSV-Dateien liegen im Ordner data/processed, weil die Daten bereits vorher bereinigt wurden. Das Notebook liegt im Ordner notebooks, und alle Diagramme werden automatisch in outputs/figures gespeichert. Dadurch ist das Projekt gut organisiert und reproduzierbar.
Persian meaning:
اینجا دیتاست‌ها و ساختار پروژه را نشان می‌دهم. همه فایل‌های CSV داخل data/processed هستند چون قبلاً تمیز شده‌اند. نوت‌بوک داخل notebooks است و همه نمودارها داخل outputs/figures ذخیره می‌شوند. این باعث می‌شود پروژه مرتب و قابل اجرا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Der Workflow ist einfach und logisch. Zuerst lade ich die CSV-Dateien. Danach konvertiere ich die Datums-Spalten, merge die Daten nach Datum, berechne tägliche Renditen und technische Indikatoren wie MA und EMA. Danach nutze ich groupby und Event-Fenster, und am Ende werden die Diagramme gespeichert.
Persian meaning:
روند کار ساده و منطقی است. اول CSVها را می‌خوانم، بعد ستون تاریخ را درست می‌کنم، داده‌ها را با تاریخ merge می‌کنم، daily return و اندیکاتورهای MA و EMA را حساب می‌کنم. بعد با groupby و event window تحلیل می‌کنم و در آخر نمودارها را ذخیره می‌کنم.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In diesem Schritt bereite ich die Daten vor. Die wichtigste Aufgabe ist, dass alle Datums-Spalten im gleichen Format sind. Danach werden die Daten nach Datum sortiert und zusammengeführt. Außerdem berechne ich die täglichen prozentualen Renditen. Ohne saubere Daten wäre die Analyse nicht zuverlässig.
Persian meaning:
در این مرحله داده‌ها را آماده می‌کنم. مهم‌ترین کار این است که ستون‌های تاریخ در همه فایل‌ها فرمت یکسان داشته باشند. بعد داده‌ها را بر اساس تاریخ مرتب و merge می‌کنم. همچنین درصد تغییر روزانه قیمت‌ها را محاسبه می‌کنم. بدون داده تمیز، تحلیل قابل اعتماد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Groupby ist ein wichtiger Teil des Projekts. Damit kann ich die Daten nach Kategorien zusammenfassen. Hier vergleiche ich normale Tage mit Tagen, an denen ein Kriegsereignis markiert wurde. Man sieht, dass die durchschnittlichen Renditen in diesen Kategorien unterschiedlich sind. Das ist eine einfache, aber wichtige Data-Science-Methode.
Persian meaning:
groupby بخش مهم پروژه است. با آن می‌توانم داده‌ها را بر اساس دسته‌بندی خلاصه کنم. اینجا روزهای عادی را با روزهای دارای رویداد جنگی مقایسه می‌کنم. میانگین بازدهی در این دو حالت متفاوت است. این یک روش ساده اما مهم در Data Science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füge ich technische Indikatoren hinzu. MA bedeutet Moving Average, also ein einfacher gleitender Durchschnitt. EMA ist ähnlich, aber neue Preise bekommen mehr Gewicht. Deshalb reagiert EMA schneller. Ich benutze verschiedene Fenster, zum Beispiel 10, 20 und 50 Tage, und erstelle daraus einfache Bullish- und Bearish-Signale.
Persian meaning:
اینجا اندیکاتورهای تکنیکال اضافه می‌کنم. MA یعنی میانگین متحرک ساده. EMA شبیه آن است ولی به قیمت‌های جدید وزن بیشتری می‌دهد، پس سریع‌تر واکنش نشان می‌دهد. من windowهای 10، 20 و 50 روزه استفاده کردم و از آن‌ها سیگنال Bullish و Bearish ساختم.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Auf dieser Folie zeige ich die Preisdiagramme. Die vertikalen Linien markieren die Iran-kriegbezogenen Ereignisse. Dadurch kann man visuell prüfen, ob sich Öl, Gold oder EUR/USD rund um diese Ereignisse auffällig bewegen. Das ist keine endgültige statistische Erklärung, aber eine gute visuelle Analyse.
Persian meaning:
در این اسلاید نمودار قیمت‌ها را نشان می‌دهم. خط‌های عمودی رویدادهای مرتبط با جنگ ایران را نشان می‌دهند. با این نمودارها می‌توانیم ببینیم آیا نفت، طلا یا EUR/USD اطراف این تاریخ‌ها حرکت قابل توجهی دارند یا نه. این اثبات آماری قطعی نیست، اما تحلیل بصری خوبی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vergleiche ich die EMA-Signale. Ich teile die Tage in Bullish und Bearish ein und berechne mit groupby die durchschnittlichen Renditen. In diesen Daten sind die Bullish-EMA-Phasen besonders bei Öl deutlich positiver. Das zeigt, dass EMA als einfacher Trendindikator nützlich ist.
Persian meaning:
اینجا سیگنال‌های EMA را مقایسه می‌کنم. روزها را به Bullish و Bearish تقسیم می‌کنم و با groupby میانگین بازدهی را حساب می‌کنم. در این داده‌ها، حالت Bullish مخصوصاً برای نفت مثبت‌تر است. این نشان می‌دهد EMA به عنوان یک اندیکاتور روند ساده مفید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In der Event-Window-Analyse vergleiche ich für jedes Ereignis die durchschnittliche Rendite fünf Tage vor und fünf Tage nach dem Ereignis. In meinem Datensatz zeigt Öl die stärkste positive Veränderung nach den Ereignissen. Aber ich interpretiere das vorsichtig: Es ist ein beobachteter Zusammenhang, kein kausaler Beweis.
Persian meaning:
در تحلیل event window، برای هر رویداد میانگین بازدهی پنج روز قبل و پنج روز بعد را مقایسه می‌کنم. در دیتاست من نفت بیشترین تغییر مثبت بعد از رویدادها را نشان می‌دهد. اما این را با احتیاط تفسیر می‌کنم: این یک ارتباط مشاهده‌شده است، نه اثبات علت و معلول.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Die wichtigsten Ergebnisse sind: Öl zeigt in dieser Analyse die stärkste positive Reaktion nach den Ereignissen. Gold und EUR/USD reagieren auch, aber nicht so eindeutig. Gleichzeitig zeigt das Projekt mehrere Data-Science-Fähigkeiten: Daten laden, bereinigen, mergen, Renditen berechnen, groupby benutzen, Indikatoren erstellen und Ergebnisse visualisieren.
Persian meaning:
نتایج اصلی این است: نفت در این تحلیل قوی‌ترین واکنش مثبت بعد از رویدادها را نشان می‌دهد. طلا و EUR/USD هم واکنش دارند، اما واضح‌تر نیستند. همچنین پروژه مهارت‌های Data Science را نشان می‌دهد: خواندن داده، پاکسازی، merge، محاسبه return، استفاده از groupby، ساخت اندیکاتور و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Zum Schluss nenne ich die Grenzen der Analyse. Es gibt nur eine begrenzte Anzahl von Ereignissen, und Märkte werden von vielen Faktoren beeinflusst. Deshalb kann ich keine Kausalität beweisen. Trotzdem ist das Projekt vollständig: Es nutzt echte Daten, Pandas, groupby, Indikatoren, Visualisierungen und eine klare Interpretation. Vielen Dank.
Persian meaning:
در پایان محدودیت‌ها را توضیح می‌دهم. تعداد رویدادها محدود است و بازارها تحت تأثیر عوامل زیادی هستند. بنابراین نمی‌توانم علت و معلول را ثابت کنم. با این حال پروژه کامل است: از داده واقعی، Pandas، groupby، اندیکاتورها، نمودارها و تفسیر واضح استفاده می‌کند. ممنون.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742"/>
          </a:solidFill>
          <a:ln w="12700">
            <a:solidFill>
              <a:srgbClr val="0F2742"/>
            </a:solidFill>
            <a:prstDash val="solid"/>
          </a:ln>
        </p:spPr>
      </p:sp>
      <p:sp>
        <p:nvSpPr>
          <p:cNvPr id="3" name="Shape 1"/>
          <p:cNvSpPr/>
          <p:nvPr/>
        </p:nvSpPr>
        <p:spPr>
          <a:xfrm>
            <a:off x="7955280" y="-822960"/>
            <a:ext cx="5120640" cy="5120640"/>
          </a:xfrm>
          <a:prstGeom prst="arc">
            <a:avLst/>
          </a:prstGeom>
          <a:noFill/>
          <a:ln w="25400">
            <a:solidFill>
              <a:srgbClr val="21496E"/>
            </a:solidFill>
            <a:prstDash val="solid"/>
          </a:ln>
        </p:spPr>
      </p:sp>
      <p:sp>
        <p:nvSpPr>
          <p:cNvPr id="4" name="Text 2"/>
          <p:cNvSpPr/>
          <p:nvPr/>
        </p:nvSpPr>
        <p:spPr>
          <a:xfrm>
            <a:off x="685800" y="1600200"/>
            <a:ext cx="8138160" cy="530352"/>
          </a:xfrm>
          <a:prstGeom prst="rect">
            <a:avLst/>
          </a:prstGeom>
          <a:noFill/>
          <a:ln/>
        </p:spPr>
        <p:txBody>
          <a:bodyPr wrap="square"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Impact of Iran War-Related Events</a:t>
            </a:r>
            <a:endParaRPr lang="en-US" sz="3000" dirty="0"/>
          </a:p>
        </p:txBody>
      </p:sp>
      <p:sp>
        <p:nvSpPr>
          <p:cNvPr id="5" name="Text 3"/>
          <p:cNvSpPr/>
          <p:nvPr/>
        </p:nvSpPr>
        <p:spPr>
          <a:xfrm>
            <a:off x="685800" y="2148840"/>
            <a:ext cx="8046720" cy="411480"/>
          </a:xfrm>
          <a:prstGeom prst="rect">
            <a:avLst/>
          </a:prstGeom>
          <a:noFill/>
          <a:ln/>
        </p:spPr>
        <p:txBody>
          <a:bodyPr wrap="square" rtlCol="0" anchor="ctr">
            <a:normAutofit/>
          </a:bodyPr>
          <a:lstStyle/>
          <a:p>
            <a:pPr indent="0" marL="0">
              <a:buNone/>
            </a:pPr>
            <a:r>
              <a:rPr lang="en-US" sz="2300" b="1" dirty="0">
                <a:solidFill>
                  <a:srgbClr val="CFE2F3"/>
                </a:solidFill>
                <a:latin typeface="Arial" pitchFamily="34" charset="0"/>
                <a:ea typeface="Arial" pitchFamily="34" charset="-122"/>
                <a:cs typeface="Arial" pitchFamily="34" charset="-120"/>
              </a:rPr>
              <a:t>on Oil, Gold, and EUR/USD Markets</a:t>
            </a:r>
            <a:endParaRPr lang="en-US" sz="2300" dirty="0"/>
          </a:p>
        </p:txBody>
      </p:sp>
      <p:sp>
        <p:nvSpPr>
          <p:cNvPr id="6" name="Text 4"/>
          <p:cNvSpPr/>
          <p:nvPr/>
        </p:nvSpPr>
        <p:spPr>
          <a:xfrm>
            <a:off x="713232" y="2944368"/>
            <a:ext cx="7863840" cy="274320"/>
          </a:xfrm>
          <a:prstGeom prst="rect">
            <a:avLst/>
          </a:prstGeom>
          <a:noFill/>
          <a:ln/>
        </p:spPr>
        <p:txBody>
          <a:bodyPr wrap="square" rtlCol="0" anchor="ctr"/>
          <a:lstStyle/>
          <a:p>
            <a:pPr indent="0" marL="0">
              <a:buNone/>
            </a:pPr>
            <a:r>
              <a:rPr lang="en-US" sz="1250" dirty="0">
                <a:solidFill>
                  <a:srgbClr val="DCE6F0"/>
                </a:solidFill>
                <a:latin typeface="Arial" pitchFamily="34" charset="0"/>
                <a:ea typeface="Arial" pitchFamily="34" charset="-122"/>
                <a:cs typeface="Arial" pitchFamily="34" charset="-120"/>
              </a:rPr>
              <a:t>Introductory Data Science Project · Pandas · Groupby · MA/EMA · Visualization</a:t>
            </a:r>
            <a:endParaRPr lang="en-US" sz="1250" dirty="0"/>
          </a:p>
        </p:txBody>
      </p:sp>
      <p:sp>
        <p:nvSpPr>
          <p:cNvPr id="7" name="Shape 5"/>
          <p:cNvSpPr/>
          <p:nvPr/>
        </p:nvSpPr>
        <p:spPr>
          <a:xfrm>
            <a:off x="713232" y="3429000"/>
            <a:ext cx="3840480" cy="0"/>
          </a:xfrm>
          <a:prstGeom prst="line">
            <a:avLst/>
          </a:prstGeom>
          <a:noFill/>
          <a:ln w="27940">
            <a:solidFill>
              <a:srgbClr val="D4A017"/>
            </a:solidFill>
            <a:prstDash val="solid"/>
          </a:ln>
        </p:spPr>
      </p:sp>
      <p:sp>
        <p:nvSpPr>
          <p:cNvPr id="8" name="Shape 6"/>
          <p:cNvSpPr/>
          <p:nvPr/>
        </p:nvSpPr>
        <p:spPr>
          <a:xfrm>
            <a:off x="7498080" y="4343400"/>
            <a:ext cx="3886200" cy="1051560"/>
          </a:xfrm>
          <a:prstGeom prst="roundRect">
            <a:avLst>
              <a:gd name="adj" fmla="val 695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9" name="Shape 7"/>
          <p:cNvSpPr/>
          <p:nvPr/>
        </p:nvSpPr>
        <p:spPr>
          <a:xfrm>
            <a:off x="7498080" y="4343400"/>
            <a:ext cx="73152" cy="1051560"/>
          </a:xfrm>
          <a:prstGeom prst="rect">
            <a:avLst/>
          </a:prstGeom>
          <a:solidFill>
            <a:srgbClr val="D4A017"/>
          </a:solidFill>
          <a:ln w="12700">
            <a:solidFill>
              <a:srgbClr val="D4A017"/>
            </a:solidFill>
            <a:prstDash val="solid"/>
          </a:ln>
        </p:spPr>
      </p:sp>
      <p:sp>
        <p:nvSpPr>
          <p:cNvPr id="10" name="Text 8"/>
          <p:cNvSpPr/>
          <p:nvPr/>
        </p:nvSpPr>
        <p:spPr>
          <a:xfrm>
            <a:off x="7699248" y="4489704"/>
            <a:ext cx="35661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Presentation focus</a:t>
            </a:r>
            <a:endParaRPr lang="en-US" sz="1250" dirty="0"/>
          </a:p>
        </p:txBody>
      </p:sp>
      <p:sp>
        <p:nvSpPr>
          <p:cNvPr id="11" name="Text 9"/>
          <p:cNvSpPr/>
          <p:nvPr/>
        </p:nvSpPr>
        <p:spPr>
          <a:xfrm>
            <a:off x="7699248" y="4846320"/>
            <a:ext cx="3566160" cy="45720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Real data, simple analysis, clear interpretation</a:t>
            </a:r>
            <a:endParaRPr lang="en-US" sz="1050" dirty="0"/>
          </a:p>
        </p:txBody>
      </p:sp>
      <p:sp>
        <p:nvSpPr>
          <p:cNvPr id="12" name="Text 10"/>
          <p:cNvSpPr/>
          <p:nvPr/>
        </p:nvSpPr>
        <p:spPr>
          <a:xfrm>
            <a:off x="713232" y="6172200"/>
            <a:ext cx="3657600" cy="256032"/>
          </a:xfrm>
          <a:prstGeom prst="rect">
            <a:avLst/>
          </a:prstGeom>
          <a:noFill/>
          <a:ln/>
        </p:spPr>
        <p:txBody>
          <a:bodyPr wrap="square" rtlCol="0" anchor="ctr"/>
          <a:lstStyle/>
          <a:p>
            <a:pPr indent="0" marL="0">
              <a:buNone/>
            </a:pPr>
            <a:r>
              <a:rPr lang="en-US" sz="1000" dirty="0">
                <a:solidFill>
                  <a:srgbClr val="DDE8F1"/>
                </a:solidFill>
              </a:rPr>
              <a:t>Yas · Data Science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Motivation &amp; Research Question</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Why this topic matters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2</a:t>
            </a:r>
            <a:endParaRPr lang="en-US" sz="750" dirty="0"/>
          </a:p>
        </p:txBody>
      </p:sp>
      <p:sp>
        <p:nvSpPr>
          <p:cNvPr id="7" name="Shape 5"/>
          <p:cNvSpPr/>
          <p:nvPr/>
        </p:nvSpPr>
        <p:spPr>
          <a:xfrm>
            <a:off x="685800" y="1234440"/>
            <a:ext cx="3429000" cy="1417320"/>
          </a:xfrm>
          <a:prstGeom prst="roundRect">
            <a:avLst>
              <a:gd name="adj" fmla="val 5161"/>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8" name="Shape 6"/>
          <p:cNvSpPr/>
          <p:nvPr/>
        </p:nvSpPr>
        <p:spPr>
          <a:xfrm>
            <a:off x="685800" y="1234440"/>
            <a:ext cx="73152" cy="1417320"/>
          </a:xfrm>
          <a:prstGeom prst="rect">
            <a:avLst/>
          </a:prstGeom>
          <a:solidFill>
            <a:srgbClr val="1F77B4"/>
          </a:solidFill>
          <a:ln w="12700">
            <a:solidFill>
              <a:srgbClr val="1F77B4"/>
            </a:solidFill>
            <a:prstDash val="solid"/>
          </a:ln>
        </p:spPr>
      </p:sp>
      <p:sp>
        <p:nvSpPr>
          <p:cNvPr id="9" name="Text 7"/>
          <p:cNvSpPr/>
          <p:nvPr/>
        </p:nvSpPr>
        <p:spPr>
          <a:xfrm>
            <a:off x="886968" y="1380744"/>
            <a:ext cx="31089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Motivation</a:t>
            </a:r>
            <a:endParaRPr lang="en-US" sz="1250" dirty="0"/>
          </a:p>
        </p:txBody>
      </p:sp>
      <p:sp>
        <p:nvSpPr>
          <p:cNvPr id="10" name="Text 8"/>
          <p:cNvSpPr/>
          <p:nvPr/>
        </p:nvSpPr>
        <p:spPr>
          <a:xfrm>
            <a:off x="886968" y="1737360"/>
            <a:ext cx="3108960" cy="8229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Geopolitical risk can influence financial markets, especially commodities and currencies.</a:t>
            </a:r>
            <a:endParaRPr lang="en-US" sz="1050" dirty="0"/>
          </a:p>
        </p:txBody>
      </p:sp>
      <p:sp>
        <p:nvSpPr>
          <p:cNvPr id="11" name="Shape 9"/>
          <p:cNvSpPr/>
          <p:nvPr/>
        </p:nvSpPr>
        <p:spPr>
          <a:xfrm>
            <a:off x="4407408" y="1234440"/>
            <a:ext cx="3429000" cy="1417320"/>
          </a:xfrm>
          <a:prstGeom prst="roundRect">
            <a:avLst>
              <a:gd name="adj" fmla="val 5161"/>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4407408" y="1234440"/>
            <a:ext cx="73152" cy="1417320"/>
          </a:xfrm>
          <a:prstGeom prst="rect">
            <a:avLst/>
          </a:prstGeom>
          <a:solidFill>
            <a:srgbClr val="D4A017"/>
          </a:solidFill>
          <a:ln w="12700">
            <a:solidFill>
              <a:srgbClr val="D4A017"/>
            </a:solidFill>
            <a:prstDash val="solid"/>
          </a:ln>
        </p:spPr>
      </p:sp>
      <p:sp>
        <p:nvSpPr>
          <p:cNvPr id="13" name="Text 11"/>
          <p:cNvSpPr/>
          <p:nvPr/>
        </p:nvSpPr>
        <p:spPr>
          <a:xfrm>
            <a:off x="4608576" y="1380744"/>
            <a:ext cx="31089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Research question</a:t>
            </a:r>
            <a:endParaRPr lang="en-US" sz="1250" dirty="0"/>
          </a:p>
        </p:txBody>
      </p:sp>
      <p:sp>
        <p:nvSpPr>
          <p:cNvPr id="14" name="Text 12"/>
          <p:cNvSpPr/>
          <p:nvPr/>
        </p:nvSpPr>
        <p:spPr>
          <a:xfrm>
            <a:off x="4608576" y="1737360"/>
            <a:ext cx="3108960" cy="8229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Are Iran war-related events associated with visible changes in oil, gold, and EUR/USD?</a:t>
            </a:r>
            <a:endParaRPr lang="en-US" sz="1050" dirty="0"/>
          </a:p>
        </p:txBody>
      </p:sp>
      <p:sp>
        <p:nvSpPr>
          <p:cNvPr id="15" name="Shape 13"/>
          <p:cNvSpPr/>
          <p:nvPr/>
        </p:nvSpPr>
        <p:spPr>
          <a:xfrm>
            <a:off x="8138160" y="1234440"/>
            <a:ext cx="3429000" cy="1417320"/>
          </a:xfrm>
          <a:prstGeom prst="roundRect">
            <a:avLst>
              <a:gd name="adj" fmla="val 5161"/>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6" name="Shape 14"/>
          <p:cNvSpPr/>
          <p:nvPr/>
        </p:nvSpPr>
        <p:spPr>
          <a:xfrm>
            <a:off x="8138160" y="1234440"/>
            <a:ext cx="73152" cy="1417320"/>
          </a:xfrm>
          <a:prstGeom prst="rect">
            <a:avLst/>
          </a:prstGeom>
          <a:solidFill>
            <a:srgbClr val="2E7D32"/>
          </a:solidFill>
          <a:ln w="12700">
            <a:solidFill>
              <a:srgbClr val="2E7D32"/>
            </a:solidFill>
            <a:prstDash val="solid"/>
          </a:ln>
        </p:spPr>
      </p:sp>
      <p:sp>
        <p:nvSpPr>
          <p:cNvPr id="17" name="Text 15"/>
          <p:cNvSpPr/>
          <p:nvPr/>
        </p:nvSpPr>
        <p:spPr>
          <a:xfrm>
            <a:off x="8339328" y="1380744"/>
            <a:ext cx="31089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Scope</a:t>
            </a:r>
            <a:endParaRPr lang="en-US" sz="1250" dirty="0"/>
          </a:p>
        </p:txBody>
      </p:sp>
      <p:sp>
        <p:nvSpPr>
          <p:cNvPr id="18" name="Text 16"/>
          <p:cNvSpPr/>
          <p:nvPr/>
        </p:nvSpPr>
        <p:spPr>
          <a:xfrm>
            <a:off x="8339328" y="1737360"/>
            <a:ext cx="3108960" cy="8229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This is an introductory data analysis project, not a professional trading model.</a:t>
            </a:r>
            <a:endParaRPr lang="en-US" sz="1050" dirty="0"/>
          </a:p>
        </p:txBody>
      </p:sp>
      <p:sp>
        <p:nvSpPr>
          <p:cNvPr id="19" name="Text 17"/>
          <p:cNvSpPr/>
          <p:nvPr/>
        </p:nvSpPr>
        <p:spPr>
          <a:xfrm>
            <a:off x="731520" y="3154680"/>
            <a:ext cx="1828800" cy="274320"/>
          </a:xfrm>
          <a:prstGeom prst="rect">
            <a:avLst/>
          </a:prstGeom>
          <a:noFill/>
          <a:ln/>
        </p:spPr>
        <p:txBody>
          <a:bodyPr wrap="square" rtlCol="0" anchor="ctr"/>
          <a:lstStyle/>
          <a:p>
            <a:pPr indent="0" marL="0">
              <a:buNone/>
            </a:pPr>
            <a:r>
              <a:rPr lang="en-US" sz="1400" b="1" dirty="0">
                <a:solidFill>
                  <a:srgbClr val="0F2742"/>
                </a:solidFill>
              </a:rPr>
              <a:t>Main idea</a:t>
            </a:r>
            <a:endParaRPr lang="en-US" sz="1400" dirty="0"/>
          </a:p>
        </p:txBody>
      </p:sp>
      <p:sp>
        <p:nvSpPr>
          <p:cNvPr id="20" name="Text 18"/>
          <p:cNvSpPr/>
          <p:nvPr/>
        </p:nvSpPr>
        <p:spPr>
          <a:xfrm>
            <a:off x="841248" y="3611880"/>
            <a:ext cx="5577840" cy="201168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Use real market data and a war-event dataset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Compare normal days vs. war-event days using groupby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Use MA and EMA indicators to describe market trends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Visualize results and discuss limitations</a:t>
            </a:r>
            <a:endParaRPr lang="en-US" sz="1450" dirty="0"/>
          </a:p>
        </p:txBody>
      </p:sp>
      <p:sp>
        <p:nvSpPr>
          <p:cNvPr id="21" name="Shape 19"/>
          <p:cNvSpPr/>
          <p:nvPr/>
        </p:nvSpPr>
        <p:spPr>
          <a:xfrm>
            <a:off x="6812280" y="3246120"/>
            <a:ext cx="4251960" cy="2057400"/>
          </a:xfrm>
          <a:prstGeom prst="roundRect">
            <a:avLst>
              <a:gd name="adj" fmla="val 3556"/>
            </a:avLst>
          </a:prstGeom>
          <a:solidFill>
            <a:srgbClr val="F4F6F8"/>
          </a:solidFill>
          <a:ln w="12700">
            <a:solidFill>
              <a:srgbClr val="DDE4EB"/>
            </a:solidFill>
            <a:prstDash val="solid"/>
          </a:ln>
        </p:spPr>
      </p:sp>
      <p:sp>
        <p:nvSpPr>
          <p:cNvPr id="22" name="Text 20"/>
          <p:cNvSpPr/>
          <p:nvPr/>
        </p:nvSpPr>
        <p:spPr>
          <a:xfrm>
            <a:off x="7114032" y="3520440"/>
            <a:ext cx="3200400" cy="274320"/>
          </a:xfrm>
          <a:prstGeom prst="rect">
            <a:avLst/>
          </a:prstGeom>
          <a:noFill/>
          <a:ln/>
        </p:spPr>
        <p:txBody>
          <a:bodyPr wrap="square" rtlCol="0" anchor="ctr"/>
          <a:lstStyle/>
          <a:p>
            <a:pPr indent="0" marL="0">
              <a:buNone/>
            </a:pPr>
            <a:r>
              <a:rPr lang="en-US" sz="1200" b="1" dirty="0">
                <a:solidFill>
                  <a:srgbClr val="0F2742"/>
                </a:solidFill>
              </a:rPr>
              <a:t>Important sentence</a:t>
            </a:r>
            <a:endParaRPr lang="en-US" sz="1200" dirty="0"/>
          </a:p>
        </p:txBody>
      </p:sp>
      <p:sp>
        <p:nvSpPr>
          <p:cNvPr id="23" name="Text 21"/>
          <p:cNvSpPr/>
          <p:nvPr/>
        </p:nvSpPr>
        <p:spPr>
          <a:xfrm>
            <a:off x="7114032" y="4005072"/>
            <a:ext cx="3611880" cy="658368"/>
          </a:xfrm>
          <a:prstGeom prst="rect">
            <a:avLst/>
          </a:prstGeom>
          <a:noFill/>
          <a:ln/>
        </p:spPr>
        <p:txBody>
          <a:bodyPr wrap="square" rtlCol="0" anchor="ctr">
            <a:normAutofit/>
          </a:bodyPr>
          <a:lstStyle/>
          <a:p>
            <a:pPr indent="0" marL="0">
              <a:buNone/>
            </a:pPr>
            <a:r>
              <a:rPr lang="en-US" sz="1800" b="1" dirty="0">
                <a:solidFill>
                  <a:srgbClr val="0F2742"/>
                </a:solidFill>
              </a:rPr>
              <a:t>This project analyzes association, not causation.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Project Data &amp; Folder Structure</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Clean CSV files, notebook, and generated figures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3</a:t>
            </a:r>
            <a:endParaRPr lang="en-US" sz="750" dirty="0"/>
          </a:p>
        </p:txBody>
      </p:sp>
      <p:sp>
        <p:nvSpPr>
          <p:cNvPr id="7" name="Shape 5"/>
          <p:cNvSpPr/>
          <p:nvPr/>
        </p:nvSpPr>
        <p:spPr>
          <a:xfrm>
            <a:off x="685800" y="1143000"/>
            <a:ext cx="3474720" cy="1115568"/>
          </a:xfrm>
          <a:prstGeom prst="roundRect">
            <a:avLst>
              <a:gd name="adj" fmla="val 655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8" name="Shape 6"/>
          <p:cNvSpPr/>
          <p:nvPr/>
        </p:nvSpPr>
        <p:spPr>
          <a:xfrm>
            <a:off x="685800" y="1143000"/>
            <a:ext cx="73152" cy="1115568"/>
          </a:xfrm>
          <a:prstGeom prst="rect">
            <a:avLst/>
          </a:prstGeom>
          <a:solidFill>
            <a:srgbClr val="1F77B4"/>
          </a:solidFill>
          <a:ln w="12700">
            <a:solidFill>
              <a:srgbClr val="1F77B4"/>
            </a:solidFill>
            <a:prstDash val="solid"/>
          </a:ln>
        </p:spPr>
      </p:sp>
      <p:sp>
        <p:nvSpPr>
          <p:cNvPr id="9" name="Text 7"/>
          <p:cNvSpPr/>
          <p:nvPr/>
        </p:nvSpPr>
        <p:spPr>
          <a:xfrm>
            <a:off x="886968" y="1289304"/>
            <a:ext cx="31546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Market data</a:t>
            </a:r>
            <a:endParaRPr lang="en-US" sz="1250" dirty="0"/>
          </a:p>
        </p:txBody>
      </p:sp>
      <p:sp>
        <p:nvSpPr>
          <p:cNvPr id="10" name="Text 8"/>
          <p:cNvSpPr/>
          <p:nvPr/>
        </p:nvSpPr>
        <p:spPr>
          <a:xfrm>
            <a:off x="886968" y="1645920"/>
            <a:ext cx="3154680" cy="521208"/>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oil_clean.csv</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gold_clean.csv</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eurusd_clean.csv</a:t>
            </a:r>
            <a:endParaRPr lang="en-US" sz="1050" dirty="0"/>
          </a:p>
        </p:txBody>
      </p:sp>
      <p:sp>
        <p:nvSpPr>
          <p:cNvPr id="11" name="Shape 9"/>
          <p:cNvSpPr/>
          <p:nvPr/>
        </p:nvSpPr>
        <p:spPr>
          <a:xfrm>
            <a:off x="4434840" y="1143000"/>
            <a:ext cx="3474720" cy="1115568"/>
          </a:xfrm>
          <a:prstGeom prst="roundRect">
            <a:avLst>
              <a:gd name="adj" fmla="val 655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4434840" y="1143000"/>
            <a:ext cx="73152" cy="1115568"/>
          </a:xfrm>
          <a:prstGeom prst="rect">
            <a:avLst/>
          </a:prstGeom>
          <a:solidFill>
            <a:srgbClr val="D4A017"/>
          </a:solidFill>
          <a:ln w="12700">
            <a:solidFill>
              <a:srgbClr val="D4A017"/>
            </a:solidFill>
            <a:prstDash val="solid"/>
          </a:ln>
        </p:spPr>
      </p:sp>
      <p:sp>
        <p:nvSpPr>
          <p:cNvPr id="13" name="Text 11"/>
          <p:cNvSpPr/>
          <p:nvPr/>
        </p:nvSpPr>
        <p:spPr>
          <a:xfrm>
            <a:off x="4636008" y="1289304"/>
            <a:ext cx="31546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Event data</a:t>
            </a:r>
            <a:endParaRPr lang="en-US" sz="1250" dirty="0"/>
          </a:p>
        </p:txBody>
      </p:sp>
      <p:sp>
        <p:nvSpPr>
          <p:cNvPr id="14" name="Text 12"/>
          <p:cNvSpPr/>
          <p:nvPr/>
        </p:nvSpPr>
        <p:spPr>
          <a:xfrm>
            <a:off x="4636008" y="1645920"/>
            <a:ext cx="3154680" cy="521208"/>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war_master_dataset.csv</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Iran war-related event dates</a:t>
            </a:r>
            <a:endParaRPr lang="en-US" sz="1050" dirty="0"/>
          </a:p>
        </p:txBody>
      </p:sp>
      <p:sp>
        <p:nvSpPr>
          <p:cNvPr id="15" name="Shape 13"/>
          <p:cNvSpPr/>
          <p:nvPr/>
        </p:nvSpPr>
        <p:spPr>
          <a:xfrm>
            <a:off x="8183880" y="1143000"/>
            <a:ext cx="3291840" cy="1115568"/>
          </a:xfrm>
          <a:prstGeom prst="roundRect">
            <a:avLst>
              <a:gd name="adj" fmla="val 655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6" name="Shape 14"/>
          <p:cNvSpPr/>
          <p:nvPr/>
        </p:nvSpPr>
        <p:spPr>
          <a:xfrm>
            <a:off x="8183880" y="1143000"/>
            <a:ext cx="73152" cy="1115568"/>
          </a:xfrm>
          <a:prstGeom prst="rect">
            <a:avLst/>
          </a:prstGeom>
          <a:solidFill>
            <a:srgbClr val="2E7D32"/>
          </a:solidFill>
          <a:ln w="12700">
            <a:solidFill>
              <a:srgbClr val="2E7D32"/>
            </a:solidFill>
            <a:prstDash val="solid"/>
          </a:ln>
        </p:spPr>
      </p:sp>
      <p:sp>
        <p:nvSpPr>
          <p:cNvPr id="17" name="Text 15"/>
          <p:cNvSpPr/>
          <p:nvPr/>
        </p:nvSpPr>
        <p:spPr>
          <a:xfrm>
            <a:off x="8385048" y="1289304"/>
            <a:ext cx="29718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Generated outputs</a:t>
            </a:r>
            <a:endParaRPr lang="en-US" sz="1250" dirty="0"/>
          </a:p>
        </p:txBody>
      </p:sp>
      <p:sp>
        <p:nvSpPr>
          <p:cNvPr id="18" name="Text 16"/>
          <p:cNvSpPr/>
          <p:nvPr/>
        </p:nvSpPr>
        <p:spPr>
          <a:xfrm>
            <a:off x="8385048" y="1645920"/>
            <a:ext cx="2971800" cy="521208"/>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merged CSVs</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groupby summaries</a:t>
            </a:r>
            <a:endParaRPr lang="en-US" sz="1050" dirty="0"/>
          </a:p>
          <a:p>
            <a:pPr indent="0" marL="0">
              <a:buNone/>
            </a:pPr>
            <a:r>
              <a:rPr lang="en-US" sz="1050" dirty="0">
                <a:solidFill>
                  <a:srgbClr val="5B6770"/>
                </a:solidFill>
                <a:latin typeface="Arial" pitchFamily="34" charset="0"/>
                <a:ea typeface="Arial" pitchFamily="34" charset="-122"/>
                <a:cs typeface="Arial" pitchFamily="34" charset="-120"/>
              </a:rPr>
              <a:t>PNG charts</a:t>
            </a:r>
            <a:endParaRPr lang="en-US" sz="1050" dirty="0"/>
          </a:p>
        </p:txBody>
      </p:sp>
      <p:sp>
        <p:nvSpPr>
          <p:cNvPr id="19" name="Shape 17"/>
          <p:cNvSpPr/>
          <p:nvPr/>
        </p:nvSpPr>
        <p:spPr>
          <a:xfrm>
            <a:off x="1097280" y="2788920"/>
            <a:ext cx="9921240" cy="2514600"/>
          </a:xfrm>
          <a:prstGeom prst="roundRect">
            <a:avLst>
              <a:gd name="adj" fmla="val 2909"/>
            </a:avLst>
          </a:prstGeom>
          <a:solidFill>
            <a:srgbClr val="F8FAFC"/>
          </a:solidFill>
          <a:ln w="12700">
            <a:solidFill>
              <a:srgbClr val="DDE4EB"/>
            </a:solidFill>
            <a:prstDash val="solid"/>
          </a:ln>
        </p:spPr>
      </p:sp>
      <p:sp>
        <p:nvSpPr>
          <p:cNvPr id="20" name="Text 18"/>
          <p:cNvSpPr/>
          <p:nvPr/>
        </p:nvSpPr>
        <p:spPr>
          <a:xfrm>
            <a:off x="1417320" y="2971800"/>
            <a:ext cx="9326880" cy="2194560"/>
          </a:xfrm>
          <a:prstGeom prst="rect">
            <a:avLst/>
          </a:prstGeom>
          <a:noFill/>
          <a:ln/>
        </p:spPr>
        <p:txBody>
          <a:bodyPr wrap="square" rtlCol="0" anchor="ctr">
            <a:normAutofit/>
          </a:bodyPr>
          <a:lstStyle/>
          <a:p>
            <a:pPr indent="0" marL="0">
              <a:buNone/>
            </a:pPr>
            <a:r>
              <a:rPr lang="en-US" sz="1550" dirty="0">
                <a:solidFill>
                  <a:srgbClr val="0F2742"/>
                </a:solidFill>
                <a:latin typeface="Arial" pitchFamily="34" charset="0"/>
                <a:ea typeface="Arial" pitchFamily="34" charset="-122"/>
                <a:cs typeface="Arial" pitchFamily="34" charset="-120"/>
              </a:rPr>
              <a:t>Project folder structure</a:t>
            </a:r>
            <a:endParaRPr lang="en-US" sz="1550" dirty="0"/>
          </a:p>
          <a:p>
            <a:pPr indent="0" marL="0">
              <a:buNone/>
            </a:pPr>
            <a:endParaRPr lang="en-US" sz="1550" dirty="0"/>
          </a:p>
          <a:p>
            <a:pPr indent="0" marL="0">
              <a:buNone/>
            </a:pPr>
            <a:r>
              <a:rPr lang="en-US" sz="1550" dirty="0">
                <a:solidFill>
                  <a:srgbClr val="0F2742"/>
                </a:solidFill>
                <a:latin typeface="Arial" pitchFamily="34" charset="0"/>
                <a:ea typeface="Arial" pitchFamily="34" charset="-122"/>
                <a:cs typeface="Arial" pitchFamily="34" charset="-120"/>
              </a:rPr>
              <a:t>1. data/processed    - CSV input and processed outputs</a:t>
            </a:r>
            <a:endParaRPr lang="en-US" sz="1550" dirty="0"/>
          </a:p>
          <a:p>
            <a:pPr indent="0" marL="0">
              <a:buNone/>
            </a:pPr>
            <a:r>
              <a:rPr lang="en-US" sz="1550" dirty="0">
                <a:solidFill>
                  <a:srgbClr val="0F2742"/>
                </a:solidFill>
                <a:latin typeface="Arial" pitchFamily="34" charset="0"/>
                <a:ea typeface="Arial" pitchFamily="34" charset="-122"/>
                <a:cs typeface="Arial" pitchFamily="34" charset="-120"/>
              </a:rPr>
              <a:t>2. notebooks         - Jupyter Notebook</a:t>
            </a:r>
            <a:endParaRPr lang="en-US" sz="1550" dirty="0"/>
          </a:p>
          <a:p>
            <a:pPr indent="0" marL="0">
              <a:buNone/>
            </a:pPr>
            <a:r>
              <a:rPr lang="en-US" sz="1550" dirty="0">
                <a:solidFill>
                  <a:srgbClr val="0F2742"/>
                </a:solidFill>
                <a:latin typeface="Arial" pitchFamily="34" charset="0"/>
                <a:ea typeface="Arial" pitchFamily="34" charset="-122"/>
                <a:cs typeface="Arial" pitchFamily="34" charset="-120"/>
              </a:rPr>
              <a:t>3. outputs/figures   - Presentation charts</a:t>
            </a:r>
            <a:endParaRPr lang="en-US" sz="1550" dirty="0"/>
          </a:p>
          <a:p>
            <a:pPr indent="0" marL="0">
              <a:buNone/>
            </a:pPr>
            <a:r>
              <a:rPr lang="en-US" sz="1550" dirty="0">
                <a:solidFill>
                  <a:srgbClr val="0F2742"/>
                </a:solidFill>
                <a:latin typeface="Arial" pitchFamily="34" charset="0"/>
                <a:ea typeface="Arial" pitchFamily="34" charset="-122"/>
                <a:cs typeface="Arial" pitchFamily="34" charset="-120"/>
              </a:rPr>
              <a:t>4. README.md         - Project description</a:t>
            </a:r>
            <a:endParaRPr lang="en-US" sz="1550" dirty="0"/>
          </a:p>
          <a:p>
            <a:pPr indent="0" marL="0">
              <a:buNone/>
            </a:pPr>
            <a:r>
              <a:rPr lang="en-US" sz="1550" dirty="0">
                <a:solidFill>
                  <a:srgbClr val="0F2742"/>
                </a:solidFill>
                <a:latin typeface="Arial" pitchFamily="34" charset="0"/>
                <a:ea typeface="Arial" pitchFamily="34" charset="-122"/>
                <a:cs typeface="Arial" pitchFamily="34" charset="-120"/>
              </a:rPr>
              <a:t>5. requirements.txt  - Python packages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Workflow</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From CSV files to charts and conclusions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4</a:t>
            </a:r>
            <a:endParaRPr lang="en-US" sz="750" dirty="0"/>
          </a:p>
        </p:txBody>
      </p:sp>
      <p:sp>
        <p:nvSpPr>
          <p:cNvPr id="7" name="Shape 5"/>
          <p:cNvSpPr/>
          <p:nvPr/>
        </p:nvSpPr>
        <p:spPr>
          <a:xfrm>
            <a:off x="640080" y="132588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8" name="Shape 6"/>
          <p:cNvSpPr/>
          <p:nvPr/>
        </p:nvSpPr>
        <p:spPr>
          <a:xfrm>
            <a:off x="640080" y="1325880"/>
            <a:ext cx="73152" cy="1143000"/>
          </a:xfrm>
          <a:prstGeom prst="rect">
            <a:avLst/>
          </a:prstGeom>
          <a:solidFill>
            <a:srgbClr val="1F77B4"/>
          </a:solidFill>
          <a:ln w="12700">
            <a:solidFill>
              <a:srgbClr val="1F77B4"/>
            </a:solidFill>
            <a:prstDash val="solid"/>
          </a:ln>
        </p:spPr>
      </p:sp>
      <p:sp>
        <p:nvSpPr>
          <p:cNvPr id="9" name="Text 7"/>
          <p:cNvSpPr/>
          <p:nvPr/>
        </p:nvSpPr>
        <p:spPr>
          <a:xfrm>
            <a:off x="841248" y="147218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1. Load CSV files</a:t>
            </a:r>
            <a:endParaRPr lang="en-US" sz="1250" dirty="0"/>
          </a:p>
        </p:txBody>
      </p:sp>
      <p:sp>
        <p:nvSpPr>
          <p:cNvPr id="10" name="Text 8"/>
          <p:cNvSpPr/>
          <p:nvPr/>
        </p:nvSpPr>
        <p:spPr>
          <a:xfrm>
            <a:off x="841248" y="182880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pandas read_csv</a:t>
            </a:r>
            <a:endParaRPr lang="en-US" sz="1050" dirty="0"/>
          </a:p>
        </p:txBody>
      </p:sp>
      <p:sp>
        <p:nvSpPr>
          <p:cNvPr id="11" name="Shape 9"/>
          <p:cNvSpPr/>
          <p:nvPr/>
        </p:nvSpPr>
        <p:spPr>
          <a:xfrm>
            <a:off x="4206240" y="1874520"/>
            <a:ext cx="320040" cy="0"/>
          </a:xfrm>
          <a:prstGeom prst="line">
            <a:avLst/>
          </a:prstGeom>
          <a:noFill/>
          <a:ln w="16510">
            <a:solidFill>
              <a:srgbClr val="B6C2CF"/>
            </a:solidFill>
            <a:prstDash val="solid"/>
            <a:headEnd type="none"/>
            <a:tailEnd type="triangle"/>
          </a:ln>
        </p:spPr>
      </p:sp>
      <p:sp>
        <p:nvSpPr>
          <p:cNvPr id="12" name="Shape 10"/>
          <p:cNvSpPr/>
          <p:nvPr/>
        </p:nvSpPr>
        <p:spPr>
          <a:xfrm>
            <a:off x="4526280" y="132588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3" name="Shape 11"/>
          <p:cNvSpPr/>
          <p:nvPr/>
        </p:nvSpPr>
        <p:spPr>
          <a:xfrm>
            <a:off x="4526280" y="1325880"/>
            <a:ext cx="73152" cy="1143000"/>
          </a:xfrm>
          <a:prstGeom prst="rect">
            <a:avLst/>
          </a:prstGeom>
          <a:solidFill>
            <a:srgbClr val="D4A017"/>
          </a:solidFill>
          <a:ln w="12700">
            <a:solidFill>
              <a:srgbClr val="D4A017"/>
            </a:solidFill>
            <a:prstDash val="solid"/>
          </a:ln>
        </p:spPr>
      </p:sp>
      <p:sp>
        <p:nvSpPr>
          <p:cNvPr id="14" name="Text 12"/>
          <p:cNvSpPr/>
          <p:nvPr/>
        </p:nvSpPr>
        <p:spPr>
          <a:xfrm>
            <a:off x="4727448" y="147218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2. Clean dates</a:t>
            </a:r>
            <a:endParaRPr lang="en-US" sz="1250" dirty="0"/>
          </a:p>
        </p:txBody>
      </p:sp>
      <p:sp>
        <p:nvSpPr>
          <p:cNvPr id="15" name="Text 13"/>
          <p:cNvSpPr/>
          <p:nvPr/>
        </p:nvSpPr>
        <p:spPr>
          <a:xfrm>
            <a:off x="4727448" y="182880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convert to datetime</a:t>
            </a:r>
            <a:endParaRPr lang="en-US" sz="1050" dirty="0"/>
          </a:p>
        </p:txBody>
      </p:sp>
      <p:sp>
        <p:nvSpPr>
          <p:cNvPr id="16" name="Shape 14"/>
          <p:cNvSpPr/>
          <p:nvPr/>
        </p:nvSpPr>
        <p:spPr>
          <a:xfrm>
            <a:off x="8092440" y="1874520"/>
            <a:ext cx="320040" cy="0"/>
          </a:xfrm>
          <a:prstGeom prst="line">
            <a:avLst/>
          </a:prstGeom>
          <a:noFill/>
          <a:ln w="16510">
            <a:solidFill>
              <a:srgbClr val="B6C2CF"/>
            </a:solidFill>
            <a:prstDash val="solid"/>
            <a:headEnd type="none"/>
            <a:tailEnd type="triangle"/>
          </a:ln>
        </p:spPr>
      </p:sp>
      <p:sp>
        <p:nvSpPr>
          <p:cNvPr id="17" name="Shape 15"/>
          <p:cNvSpPr/>
          <p:nvPr/>
        </p:nvSpPr>
        <p:spPr>
          <a:xfrm>
            <a:off x="8412480" y="132588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8" name="Shape 16"/>
          <p:cNvSpPr/>
          <p:nvPr/>
        </p:nvSpPr>
        <p:spPr>
          <a:xfrm>
            <a:off x="8412480" y="1325880"/>
            <a:ext cx="73152" cy="1143000"/>
          </a:xfrm>
          <a:prstGeom prst="rect">
            <a:avLst/>
          </a:prstGeom>
          <a:solidFill>
            <a:srgbClr val="2E7D32"/>
          </a:solidFill>
          <a:ln w="12700">
            <a:solidFill>
              <a:srgbClr val="2E7D32"/>
            </a:solidFill>
            <a:prstDash val="solid"/>
          </a:ln>
        </p:spPr>
      </p:sp>
      <p:sp>
        <p:nvSpPr>
          <p:cNvPr id="19" name="Text 17"/>
          <p:cNvSpPr/>
          <p:nvPr/>
        </p:nvSpPr>
        <p:spPr>
          <a:xfrm>
            <a:off x="8613648" y="147218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3. Merge data</a:t>
            </a:r>
            <a:endParaRPr lang="en-US" sz="1250" dirty="0"/>
          </a:p>
        </p:txBody>
      </p:sp>
      <p:sp>
        <p:nvSpPr>
          <p:cNvPr id="20" name="Text 18"/>
          <p:cNvSpPr/>
          <p:nvPr/>
        </p:nvSpPr>
        <p:spPr>
          <a:xfrm>
            <a:off x="8613648" y="182880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join by date</a:t>
            </a:r>
            <a:endParaRPr lang="en-US" sz="1050" dirty="0"/>
          </a:p>
        </p:txBody>
      </p:sp>
      <p:sp>
        <p:nvSpPr>
          <p:cNvPr id="21" name="Shape 19"/>
          <p:cNvSpPr/>
          <p:nvPr/>
        </p:nvSpPr>
        <p:spPr>
          <a:xfrm>
            <a:off x="640080" y="365760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22" name="Shape 20"/>
          <p:cNvSpPr/>
          <p:nvPr/>
        </p:nvSpPr>
        <p:spPr>
          <a:xfrm>
            <a:off x="640080" y="3657600"/>
            <a:ext cx="73152" cy="1143000"/>
          </a:xfrm>
          <a:prstGeom prst="rect">
            <a:avLst/>
          </a:prstGeom>
          <a:solidFill>
            <a:srgbClr val="6A4C93"/>
          </a:solidFill>
          <a:ln w="12700">
            <a:solidFill>
              <a:srgbClr val="6A4C93"/>
            </a:solidFill>
            <a:prstDash val="solid"/>
          </a:ln>
        </p:spPr>
      </p:sp>
      <p:sp>
        <p:nvSpPr>
          <p:cNvPr id="23" name="Text 21"/>
          <p:cNvSpPr/>
          <p:nvPr/>
        </p:nvSpPr>
        <p:spPr>
          <a:xfrm>
            <a:off x="841248" y="380390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4. Feature engineering</a:t>
            </a:r>
            <a:endParaRPr lang="en-US" sz="1250" dirty="0"/>
          </a:p>
        </p:txBody>
      </p:sp>
      <p:sp>
        <p:nvSpPr>
          <p:cNvPr id="24" name="Text 22"/>
          <p:cNvSpPr/>
          <p:nvPr/>
        </p:nvSpPr>
        <p:spPr>
          <a:xfrm>
            <a:off x="841248" y="416052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daily returns + MA/EMA</a:t>
            </a:r>
            <a:endParaRPr lang="en-US" sz="1050" dirty="0"/>
          </a:p>
        </p:txBody>
      </p:sp>
      <p:sp>
        <p:nvSpPr>
          <p:cNvPr id="25" name="Shape 23"/>
          <p:cNvSpPr/>
          <p:nvPr/>
        </p:nvSpPr>
        <p:spPr>
          <a:xfrm>
            <a:off x="4526280" y="365760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26" name="Shape 24"/>
          <p:cNvSpPr/>
          <p:nvPr/>
        </p:nvSpPr>
        <p:spPr>
          <a:xfrm>
            <a:off x="4526280" y="3657600"/>
            <a:ext cx="73152" cy="1143000"/>
          </a:xfrm>
          <a:prstGeom prst="rect">
            <a:avLst/>
          </a:prstGeom>
          <a:solidFill>
            <a:srgbClr val="C44E52"/>
          </a:solidFill>
          <a:ln w="12700">
            <a:solidFill>
              <a:srgbClr val="C44E52"/>
            </a:solidFill>
            <a:prstDash val="solid"/>
          </a:ln>
        </p:spPr>
      </p:sp>
      <p:sp>
        <p:nvSpPr>
          <p:cNvPr id="27" name="Text 25"/>
          <p:cNvSpPr/>
          <p:nvPr/>
        </p:nvSpPr>
        <p:spPr>
          <a:xfrm>
            <a:off x="4727448" y="380390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5. Analyze</a:t>
            </a:r>
            <a:endParaRPr lang="en-US" sz="1250" dirty="0"/>
          </a:p>
        </p:txBody>
      </p:sp>
      <p:sp>
        <p:nvSpPr>
          <p:cNvPr id="28" name="Text 26"/>
          <p:cNvSpPr/>
          <p:nvPr/>
        </p:nvSpPr>
        <p:spPr>
          <a:xfrm>
            <a:off x="4727448" y="416052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groupby + event windows</a:t>
            </a:r>
            <a:endParaRPr lang="en-US" sz="1050" dirty="0"/>
          </a:p>
        </p:txBody>
      </p:sp>
      <p:sp>
        <p:nvSpPr>
          <p:cNvPr id="29" name="Shape 27"/>
          <p:cNvSpPr/>
          <p:nvPr/>
        </p:nvSpPr>
        <p:spPr>
          <a:xfrm>
            <a:off x="8412480" y="3657600"/>
            <a:ext cx="352044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30" name="Shape 28"/>
          <p:cNvSpPr/>
          <p:nvPr/>
        </p:nvSpPr>
        <p:spPr>
          <a:xfrm>
            <a:off x="8412480" y="3657600"/>
            <a:ext cx="73152" cy="1143000"/>
          </a:xfrm>
          <a:prstGeom prst="rect">
            <a:avLst/>
          </a:prstGeom>
          <a:solidFill>
            <a:srgbClr val="4C78A8"/>
          </a:solidFill>
          <a:ln w="12700">
            <a:solidFill>
              <a:srgbClr val="4C78A8"/>
            </a:solidFill>
            <a:prstDash val="solid"/>
          </a:ln>
        </p:spPr>
      </p:sp>
      <p:sp>
        <p:nvSpPr>
          <p:cNvPr id="31" name="Text 29"/>
          <p:cNvSpPr/>
          <p:nvPr/>
        </p:nvSpPr>
        <p:spPr>
          <a:xfrm>
            <a:off x="8613648" y="3803904"/>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6. Visualize</a:t>
            </a:r>
            <a:endParaRPr lang="en-US" sz="1250" dirty="0"/>
          </a:p>
        </p:txBody>
      </p:sp>
      <p:sp>
        <p:nvSpPr>
          <p:cNvPr id="32" name="Text 30"/>
          <p:cNvSpPr/>
          <p:nvPr/>
        </p:nvSpPr>
        <p:spPr>
          <a:xfrm>
            <a:off x="8613648" y="4160520"/>
            <a:ext cx="320040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save PNG charts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Data Cleaning &amp; Merge</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Preparing the dataset for analysis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5</a:t>
            </a:r>
            <a:endParaRPr lang="en-US" sz="750" dirty="0"/>
          </a:p>
        </p:txBody>
      </p:sp>
      <p:sp>
        <p:nvSpPr>
          <p:cNvPr id="7" name="Text 5"/>
          <p:cNvSpPr/>
          <p:nvPr/>
        </p:nvSpPr>
        <p:spPr>
          <a:xfrm>
            <a:off x="777240" y="1188720"/>
            <a:ext cx="5120640" cy="283464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Standardized date columns across all files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Sorted data chronologically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Checked missing values and duplicate rows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Merged oil, gold, EUR/USD, and event data by date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Calculated daily percentage returns</a:t>
            </a:r>
            <a:endParaRPr lang="en-US" sz="1450" dirty="0"/>
          </a:p>
        </p:txBody>
      </p:sp>
      <p:sp>
        <p:nvSpPr>
          <p:cNvPr id="8" name="Shape 6"/>
          <p:cNvSpPr/>
          <p:nvPr/>
        </p:nvSpPr>
        <p:spPr>
          <a:xfrm>
            <a:off x="6263640" y="1143000"/>
            <a:ext cx="5212080" cy="2971800"/>
          </a:xfrm>
          <a:prstGeom prst="roundRect">
            <a:avLst>
              <a:gd name="adj" fmla="val 2462"/>
            </a:avLst>
          </a:prstGeom>
          <a:solidFill>
            <a:srgbClr val="F8FAFC"/>
          </a:solidFill>
          <a:ln w="12700">
            <a:solidFill>
              <a:srgbClr val="DDE4EB"/>
            </a:solidFill>
            <a:prstDash val="solid"/>
          </a:ln>
        </p:spPr>
      </p:sp>
      <p:sp>
        <p:nvSpPr>
          <p:cNvPr id="9" name="Text 7"/>
          <p:cNvSpPr/>
          <p:nvPr/>
        </p:nvSpPr>
        <p:spPr>
          <a:xfrm>
            <a:off x="6583680" y="1417320"/>
            <a:ext cx="2560320" cy="274320"/>
          </a:xfrm>
          <a:prstGeom prst="rect">
            <a:avLst/>
          </a:prstGeom>
          <a:noFill/>
          <a:ln/>
        </p:spPr>
        <p:txBody>
          <a:bodyPr wrap="square" rtlCol="0" anchor="ctr"/>
          <a:lstStyle/>
          <a:p>
            <a:pPr indent="0" marL="0">
              <a:buNone/>
            </a:pPr>
            <a:r>
              <a:rPr lang="en-US" sz="1200" b="1" dirty="0">
                <a:solidFill>
                  <a:srgbClr val="0F2742"/>
                </a:solidFill>
              </a:rPr>
              <a:t>Key code idea</a:t>
            </a:r>
            <a:endParaRPr lang="en-US" sz="1200" dirty="0"/>
          </a:p>
        </p:txBody>
      </p:sp>
      <p:sp>
        <p:nvSpPr>
          <p:cNvPr id="10" name="Text 8"/>
          <p:cNvSpPr/>
          <p:nvPr/>
        </p:nvSpPr>
        <p:spPr>
          <a:xfrm>
            <a:off x="6583680" y="1847088"/>
            <a:ext cx="4572000" cy="1417320"/>
          </a:xfrm>
          <a:prstGeom prst="rect">
            <a:avLst/>
          </a:prstGeom>
          <a:noFill/>
          <a:ln/>
        </p:spPr>
        <p:txBody>
          <a:bodyPr wrap="square" rtlCol="0" anchor="ctr">
            <a:normAutofit/>
          </a:bodyPr>
          <a:lstStyle/>
          <a:p>
            <a:pPr indent="0" marL="0">
              <a:buNone/>
            </a:pPr>
            <a:r>
              <a:rPr lang="en-US" sz="1600" dirty="0">
                <a:solidFill>
                  <a:srgbClr val="0F2742"/>
                </a:solidFill>
                <a:latin typeface="Arial" pitchFamily="34" charset="0"/>
                <a:ea typeface="Arial" pitchFamily="34" charset="-122"/>
                <a:cs typeface="Arial" pitchFamily="34" charset="-120"/>
              </a:rPr>
              <a:t>1. Convert dates to datetime</a:t>
            </a:r>
            <a:endParaRPr lang="en-US" sz="1600" dirty="0"/>
          </a:p>
          <a:p>
            <a:pPr indent="0" marL="0">
              <a:buNone/>
            </a:pPr>
            <a:r>
              <a:rPr lang="en-US" sz="1600" dirty="0">
                <a:solidFill>
                  <a:srgbClr val="0F2742"/>
                </a:solidFill>
                <a:latin typeface="Arial" pitchFamily="34" charset="0"/>
                <a:ea typeface="Arial" pitchFamily="34" charset="-122"/>
                <a:cs typeface="Arial" pitchFamily="34" charset="-120"/>
              </a:rPr>
              <a:t>2. Merge all datasets by date</a:t>
            </a:r>
            <a:endParaRPr lang="en-US" sz="1600" dirty="0"/>
          </a:p>
          <a:p>
            <a:pPr indent="0" marL="0">
              <a:buNone/>
            </a:pPr>
            <a:r>
              <a:rPr lang="en-US" sz="1600" dirty="0">
                <a:solidFill>
                  <a:srgbClr val="0F2742"/>
                </a:solidFill>
                <a:latin typeface="Arial" pitchFamily="34" charset="0"/>
                <a:ea typeface="Arial" pitchFamily="34" charset="-122"/>
                <a:cs typeface="Arial" pitchFamily="34" charset="-120"/>
              </a:rPr>
              <a:t>3. Add war-event marker</a:t>
            </a:r>
            <a:endParaRPr lang="en-US" sz="1600" dirty="0"/>
          </a:p>
          <a:p>
            <a:pPr indent="0" marL="0">
              <a:buNone/>
            </a:pPr>
            <a:r>
              <a:rPr lang="en-US" sz="1600" dirty="0">
                <a:solidFill>
                  <a:srgbClr val="0F2742"/>
                </a:solidFill>
                <a:latin typeface="Arial" pitchFamily="34" charset="0"/>
                <a:ea typeface="Arial" pitchFamily="34" charset="-122"/>
                <a:cs typeface="Arial" pitchFamily="34" charset="-120"/>
              </a:rPr>
              <a:t>4. Calculate daily percentage return</a:t>
            </a:r>
            <a:endParaRPr lang="en-US" sz="1600" dirty="0"/>
          </a:p>
        </p:txBody>
      </p:sp>
      <p:sp>
        <p:nvSpPr>
          <p:cNvPr id="11" name="Shape 9"/>
          <p:cNvSpPr/>
          <p:nvPr/>
        </p:nvSpPr>
        <p:spPr>
          <a:xfrm>
            <a:off x="1188720" y="4709160"/>
            <a:ext cx="9601200" cy="777240"/>
          </a:xfrm>
          <a:prstGeom prst="roundRect">
            <a:avLst>
              <a:gd name="adj" fmla="val 9412"/>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1188720" y="4709160"/>
            <a:ext cx="73152" cy="777240"/>
          </a:xfrm>
          <a:prstGeom prst="rect">
            <a:avLst/>
          </a:prstGeom>
          <a:solidFill>
            <a:srgbClr val="C62828"/>
          </a:solidFill>
          <a:ln w="12700">
            <a:solidFill>
              <a:srgbClr val="C62828"/>
            </a:solidFill>
            <a:prstDash val="solid"/>
          </a:ln>
        </p:spPr>
      </p:sp>
      <p:sp>
        <p:nvSpPr>
          <p:cNvPr id="13" name="Text 11"/>
          <p:cNvSpPr/>
          <p:nvPr/>
        </p:nvSpPr>
        <p:spPr>
          <a:xfrm>
            <a:off x="1389888" y="4855464"/>
            <a:ext cx="92811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Why this matters</a:t>
            </a:r>
            <a:endParaRPr lang="en-US" sz="1250" dirty="0"/>
          </a:p>
        </p:txBody>
      </p:sp>
      <p:sp>
        <p:nvSpPr>
          <p:cNvPr id="14" name="Text 12"/>
          <p:cNvSpPr/>
          <p:nvPr/>
        </p:nvSpPr>
        <p:spPr>
          <a:xfrm>
            <a:off x="1389888" y="5212080"/>
            <a:ext cx="9281160" cy="18288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If the dates are not clean and aligned, the later analysis and charts can be misleading.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Groupby Analysis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Comparing normal days and war-event days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6</a:t>
            </a:r>
            <a:endParaRPr lang="en-US" sz="750" dirty="0"/>
          </a:p>
        </p:txBody>
      </p:sp>
      <p:sp>
        <p:nvSpPr>
          <p:cNvPr id="7" name="Text 5"/>
          <p:cNvSpPr/>
          <p:nvPr/>
        </p:nvSpPr>
        <p:spPr>
          <a:xfrm>
            <a:off x="731520" y="1115568"/>
            <a:ext cx="8686800" cy="320040"/>
          </a:xfrm>
          <a:prstGeom prst="rect">
            <a:avLst/>
          </a:prstGeom>
          <a:noFill/>
          <a:ln/>
        </p:spPr>
        <p:txBody>
          <a:bodyPr wrap="square" rtlCol="0" anchor="ctr"/>
          <a:lstStyle/>
          <a:p>
            <a:pPr indent="0" marL="0">
              <a:buNone/>
            </a:pPr>
            <a:r>
              <a:rPr lang="en-US" sz="1450" dirty="0">
                <a:solidFill>
                  <a:srgbClr val="5B6770"/>
                </a:solidFill>
              </a:rPr>
              <a:t>Groupby helps summarize market behavior by category.</a:t>
            </a:r>
            <a:endParaRPr lang="en-US" sz="1450" dirty="0"/>
          </a:p>
        </p:txBody>
      </p:sp>
      <p:sp>
        <p:nvSpPr>
          <p:cNvPr id="8" name="Shape 6"/>
          <p:cNvSpPr/>
          <p:nvPr/>
        </p:nvSpPr>
        <p:spPr>
          <a:xfrm>
            <a:off x="731520" y="1691640"/>
            <a:ext cx="5166360" cy="1920240"/>
          </a:xfrm>
          <a:prstGeom prst="roundRect">
            <a:avLst>
              <a:gd name="adj" fmla="val 3810"/>
            </a:avLst>
          </a:prstGeom>
          <a:solidFill>
            <a:srgbClr val="F8FAFC"/>
          </a:solidFill>
          <a:ln w="12700">
            <a:solidFill>
              <a:srgbClr val="DDE4EB"/>
            </a:solidFill>
            <a:prstDash val="solid"/>
          </a:ln>
        </p:spPr>
      </p:sp>
      <p:sp>
        <p:nvSpPr>
          <p:cNvPr id="9" name="Text 7"/>
          <p:cNvSpPr/>
          <p:nvPr/>
        </p:nvSpPr>
        <p:spPr>
          <a:xfrm>
            <a:off x="1051560" y="1874520"/>
            <a:ext cx="4572000" cy="1645920"/>
          </a:xfrm>
          <a:prstGeom prst="rect">
            <a:avLst/>
          </a:prstGeom>
          <a:noFill/>
          <a:ln/>
        </p:spPr>
        <p:txBody>
          <a:bodyPr wrap="square" rtlCol="0" anchor="ctr">
            <a:normAutofit/>
          </a:bodyPr>
          <a:lstStyle/>
          <a:p>
            <a:pPr indent="0" marL="0">
              <a:buNone/>
            </a:pPr>
            <a:r>
              <a:rPr lang="en-US" sz="1450" dirty="0">
                <a:solidFill>
                  <a:srgbClr val="0F2742"/>
                </a:solidFill>
                <a:latin typeface="Arial" pitchFamily="34" charset="0"/>
                <a:ea typeface="Arial" pitchFamily="34" charset="-122"/>
                <a:cs typeface="Arial" pitchFamily="34" charset="-120"/>
              </a:rPr>
              <a:t>Group data by war_event</a:t>
            </a:r>
            <a:endParaRPr lang="en-US" sz="1450" dirty="0"/>
          </a:p>
          <a:p>
            <a:pPr indent="0" marL="0">
              <a:buNone/>
            </a:pPr>
            <a:endParaRPr lang="en-US" sz="1450" dirty="0"/>
          </a:p>
          <a:p>
            <a:pPr indent="0" marL="0">
              <a:buNone/>
            </a:pPr>
            <a:r>
              <a:rPr lang="en-US" sz="1450" dirty="0">
                <a:solidFill>
                  <a:srgbClr val="0F2742"/>
                </a:solidFill>
                <a:latin typeface="Arial" pitchFamily="34" charset="0"/>
                <a:ea typeface="Arial" pitchFamily="34" charset="-122"/>
                <a:cs typeface="Arial" pitchFamily="34" charset="-120"/>
              </a:rPr>
              <a:t>war_event = 0: normal days</a:t>
            </a:r>
            <a:endParaRPr lang="en-US" sz="1450" dirty="0"/>
          </a:p>
          <a:p>
            <a:pPr indent="0" marL="0">
              <a:buNone/>
            </a:pPr>
            <a:r>
              <a:rPr lang="en-US" sz="1450" dirty="0">
                <a:solidFill>
                  <a:srgbClr val="0F2742"/>
                </a:solidFill>
                <a:latin typeface="Arial" pitchFamily="34" charset="0"/>
                <a:ea typeface="Arial" pitchFamily="34" charset="-122"/>
                <a:cs typeface="Arial" pitchFamily="34" charset="-120"/>
              </a:rPr>
              <a:t>war_event = 1: event days</a:t>
            </a:r>
            <a:endParaRPr lang="en-US" sz="1450" dirty="0"/>
          </a:p>
          <a:p>
            <a:pPr indent="0" marL="0">
              <a:buNone/>
            </a:pPr>
            <a:endParaRPr lang="en-US" sz="1450" dirty="0"/>
          </a:p>
          <a:p>
            <a:pPr indent="0" marL="0">
              <a:buNone/>
            </a:pPr>
            <a:r>
              <a:rPr lang="en-US" sz="1450" dirty="0">
                <a:solidFill>
                  <a:srgbClr val="0F2742"/>
                </a:solidFill>
                <a:latin typeface="Arial" pitchFamily="34" charset="0"/>
                <a:ea typeface="Arial" pitchFamily="34" charset="-122"/>
                <a:cs typeface="Arial" pitchFamily="34" charset="-120"/>
              </a:rPr>
              <a:t>Then calculate average returns for each market.</a:t>
            </a:r>
            <a:endParaRPr lang="en-US" sz="1450" dirty="0"/>
          </a:p>
        </p:txBody>
      </p:sp>
      <p:sp>
        <p:nvSpPr>
          <p:cNvPr id="10" name="Shape 8"/>
          <p:cNvSpPr/>
          <p:nvPr/>
        </p:nvSpPr>
        <p:spPr>
          <a:xfrm>
            <a:off x="6400800" y="1572768"/>
            <a:ext cx="4526280" cy="2423160"/>
          </a:xfrm>
          <a:prstGeom prst="roundRect">
            <a:avLst>
              <a:gd name="adj" fmla="val 3019"/>
            </a:avLst>
          </a:prstGeom>
          <a:solidFill>
            <a:srgbClr val="FFFFFF"/>
          </a:solidFill>
          <a:ln w="12700">
            <a:solidFill>
              <a:srgbClr val="DDE4E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01968" y="1810512"/>
          <a:ext cx="4114800" cy="1691640"/>
        </p:xfrm>
        <a:graphic>
          <a:graphicData uri="http://schemas.openxmlformats.org/drawingml/2006/table">
            <a:tbl>
              <a:tblPr/>
              <a:tblGrid>
                <a:gridCol w="1280160"/>
                <a:gridCol w="1417320"/>
                <a:gridCol w="1417320"/>
              </a:tblGrid>
              <a:tr h="384048">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Market</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Normal Days</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War Event Days</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r>
              <a:tr h="384048">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EUR/USD</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0.038%</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-0.124%</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r>
              <a:tr h="384048">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Gold</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0.191%</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-0.495%</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r>
              <a:tr h="384048">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Oil</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0.209%</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920" dirty="0">
                          <a:solidFill>
                            <a:srgbClr val="0F2742"/>
                          </a:solidFill>
                          <a:latin typeface="Arial" pitchFamily="34" charset="0"/>
                          <a:ea typeface="Arial" pitchFamily="34" charset="-122"/>
                          <a:cs typeface="Arial" pitchFamily="34" charset="-120"/>
                        </a:rPr>
                        <a:t>-0.131%</a:t>
                      </a:r>
                      <a:endParaRPr lang="en-US" sz="920" dirty="0">
                        <a:latin typeface="Arial" charset="0"/>
                        <a:ea typeface="Arial" charset="0"/>
                        <a:cs typeface="Arial" charset="0"/>
                      </a:endParaRPr>
                    </a:p>
                  </a:txBody>
                  <a:tcPr marL="54864" marR="54864" marT="54864" marB="54864" anchor="mid">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r>
            </a:tbl>
          </a:graphicData>
        </a:graphic>
      </p:graphicFrame>
      <p:sp>
        <p:nvSpPr>
          <p:cNvPr id="12" name="Shape 9"/>
          <p:cNvSpPr/>
          <p:nvPr/>
        </p:nvSpPr>
        <p:spPr>
          <a:xfrm>
            <a:off x="1005840" y="4343400"/>
            <a:ext cx="9875520" cy="777240"/>
          </a:xfrm>
          <a:prstGeom prst="roundRect">
            <a:avLst>
              <a:gd name="adj" fmla="val 9412"/>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3" name="Shape 10"/>
          <p:cNvSpPr/>
          <p:nvPr/>
        </p:nvSpPr>
        <p:spPr>
          <a:xfrm>
            <a:off x="1005840" y="4343400"/>
            <a:ext cx="73152" cy="777240"/>
          </a:xfrm>
          <a:prstGeom prst="rect">
            <a:avLst/>
          </a:prstGeom>
          <a:solidFill>
            <a:srgbClr val="2E7D32"/>
          </a:solidFill>
          <a:ln w="12700">
            <a:solidFill>
              <a:srgbClr val="2E7D32"/>
            </a:solidFill>
            <a:prstDash val="solid"/>
          </a:ln>
        </p:spPr>
      </p:sp>
      <p:sp>
        <p:nvSpPr>
          <p:cNvPr id="14" name="Text 11"/>
          <p:cNvSpPr/>
          <p:nvPr/>
        </p:nvSpPr>
        <p:spPr>
          <a:xfrm>
            <a:off x="1207008" y="4489704"/>
            <a:ext cx="95554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Interpretation</a:t>
            </a:r>
            <a:endParaRPr lang="en-US" sz="1250" dirty="0"/>
          </a:p>
        </p:txBody>
      </p:sp>
      <p:sp>
        <p:nvSpPr>
          <p:cNvPr id="15" name="Text 12"/>
          <p:cNvSpPr/>
          <p:nvPr/>
        </p:nvSpPr>
        <p:spPr>
          <a:xfrm>
            <a:off x="1207008" y="4846320"/>
            <a:ext cx="9555480" cy="18288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The groupby result gives a quick comparison between normal market days and war-event days.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Technical Indicators: MA and EMA</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Adding market trend features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7</a:t>
            </a:r>
            <a:endParaRPr lang="en-US" sz="750" dirty="0"/>
          </a:p>
        </p:txBody>
      </p:sp>
      <p:sp>
        <p:nvSpPr>
          <p:cNvPr id="7" name="Shape 5"/>
          <p:cNvSpPr/>
          <p:nvPr/>
        </p:nvSpPr>
        <p:spPr>
          <a:xfrm>
            <a:off x="685800" y="1115568"/>
            <a:ext cx="3520440" cy="1353312"/>
          </a:xfrm>
          <a:prstGeom prst="roundRect">
            <a:avLst>
              <a:gd name="adj" fmla="val 5405"/>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8" name="Shape 6"/>
          <p:cNvSpPr/>
          <p:nvPr/>
        </p:nvSpPr>
        <p:spPr>
          <a:xfrm>
            <a:off x="685800" y="1115568"/>
            <a:ext cx="73152" cy="1353312"/>
          </a:xfrm>
          <a:prstGeom prst="rect">
            <a:avLst/>
          </a:prstGeom>
          <a:solidFill>
            <a:srgbClr val="1F77B4"/>
          </a:solidFill>
          <a:ln w="12700">
            <a:solidFill>
              <a:srgbClr val="1F77B4"/>
            </a:solidFill>
            <a:prstDash val="solid"/>
          </a:ln>
        </p:spPr>
      </p:sp>
      <p:sp>
        <p:nvSpPr>
          <p:cNvPr id="9" name="Text 7"/>
          <p:cNvSpPr/>
          <p:nvPr/>
        </p:nvSpPr>
        <p:spPr>
          <a:xfrm>
            <a:off x="886968" y="1261872"/>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Moving Average (MA)</a:t>
            </a:r>
            <a:endParaRPr lang="en-US" sz="1250" dirty="0"/>
          </a:p>
        </p:txBody>
      </p:sp>
      <p:sp>
        <p:nvSpPr>
          <p:cNvPr id="10" name="Text 8"/>
          <p:cNvSpPr/>
          <p:nvPr/>
        </p:nvSpPr>
        <p:spPr>
          <a:xfrm>
            <a:off x="886968" y="1618488"/>
            <a:ext cx="3200400" cy="758952"/>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Simple average of past prices. It is smoother and reacts slower.</a:t>
            </a:r>
            <a:endParaRPr lang="en-US" sz="1050" dirty="0"/>
          </a:p>
        </p:txBody>
      </p:sp>
      <p:sp>
        <p:nvSpPr>
          <p:cNvPr id="11" name="Shape 9"/>
          <p:cNvSpPr/>
          <p:nvPr/>
        </p:nvSpPr>
        <p:spPr>
          <a:xfrm>
            <a:off x="4343400" y="1115568"/>
            <a:ext cx="3520440" cy="1353312"/>
          </a:xfrm>
          <a:prstGeom prst="roundRect">
            <a:avLst>
              <a:gd name="adj" fmla="val 5405"/>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4343400" y="1115568"/>
            <a:ext cx="73152" cy="1353312"/>
          </a:xfrm>
          <a:prstGeom prst="rect">
            <a:avLst/>
          </a:prstGeom>
          <a:solidFill>
            <a:srgbClr val="D4A017"/>
          </a:solidFill>
          <a:ln w="12700">
            <a:solidFill>
              <a:srgbClr val="D4A017"/>
            </a:solidFill>
            <a:prstDash val="solid"/>
          </a:ln>
        </p:spPr>
      </p:sp>
      <p:sp>
        <p:nvSpPr>
          <p:cNvPr id="13" name="Text 11"/>
          <p:cNvSpPr/>
          <p:nvPr/>
        </p:nvSpPr>
        <p:spPr>
          <a:xfrm>
            <a:off x="4544568" y="1261872"/>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Exponential MA (EMA)</a:t>
            </a:r>
            <a:endParaRPr lang="en-US" sz="1250" dirty="0"/>
          </a:p>
        </p:txBody>
      </p:sp>
      <p:sp>
        <p:nvSpPr>
          <p:cNvPr id="14" name="Text 12"/>
          <p:cNvSpPr/>
          <p:nvPr/>
        </p:nvSpPr>
        <p:spPr>
          <a:xfrm>
            <a:off x="4544568" y="1618488"/>
            <a:ext cx="3200400" cy="758952"/>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Weighted average that reacts faster to recent price changes.</a:t>
            </a:r>
            <a:endParaRPr lang="en-US" sz="1050" dirty="0"/>
          </a:p>
        </p:txBody>
      </p:sp>
      <p:sp>
        <p:nvSpPr>
          <p:cNvPr id="15" name="Shape 13"/>
          <p:cNvSpPr/>
          <p:nvPr/>
        </p:nvSpPr>
        <p:spPr>
          <a:xfrm>
            <a:off x="8001000" y="1115568"/>
            <a:ext cx="3520440" cy="1353312"/>
          </a:xfrm>
          <a:prstGeom prst="roundRect">
            <a:avLst>
              <a:gd name="adj" fmla="val 5405"/>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6" name="Shape 14"/>
          <p:cNvSpPr/>
          <p:nvPr/>
        </p:nvSpPr>
        <p:spPr>
          <a:xfrm>
            <a:off x="8001000" y="1115568"/>
            <a:ext cx="73152" cy="1353312"/>
          </a:xfrm>
          <a:prstGeom prst="rect">
            <a:avLst/>
          </a:prstGeom>
          <a:solidFill>
            <a:srgbClr val="2E7D32"/>
          </a:solidFill>
          <a:ln w="12700">
            <a:solidFill>
              <a:srgbClr val="2E7D32"/>
            </a:solidFill>
            <a:prstDash val="solid"/>
          </a:ln>
        </p:spPr>
      </p:sp>
      <p:sp>
        <p:nvSpPr>
          <p:cNvPr id="17" name="Text 15"/>
          <p:cNvSpPr/>
          <p:nvPr/>
        </p:nvSpPr>
        <p:spPr>
          <a:xfrm>
            <a:off x="8202168" y="1261872"/>
            <a:ext cx="320040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Parameters</a:t>
            </a:r>
            <a:endParaRPr lang="en-US" sz="1250" dirty="0"/>
          </a:p>
        </p:txBody>
      </p:sp>
      <p:sp>
        <p:nvSpPr>
          <p:cNvPr id="18" name="Text 16"/>
          <p:cNvSpPr/>
          <p:nvPr/>
        </p:nvSpPr>
        <p:spPr>
          <a:xfrm>
            <a:off x="8202168" y="1618488"/>
            <a:ext cx="3200400" cy="758952"/>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Different windows were tested: 10, 20, and 50 days.</a:t>
            </a:r>
            <a:endParaRPr lang="en-US" sz="1050" dirty="0"/>
          </a:p>
        </p:txBody>
      </p:sp>
      <p:sp>
        <p:nvSpPr>
          <p:cNvPr id="19" name="Shape 17"/>
          <p:cNvSpPr/>
          <p:nvPr/>
        </p:nvSpPr>
        <p:spPr>
          <a:xfrm>
            <a:off x="914400" y="3063240"/>
            <a:ext cx="5212080" cy="2240280"/>
          </a:xfrm>
          <a:prstGeom prst="roundRect">
            <a:avLst>
              <a:gd name="adj" fmla="val 3265"/>
            </a:avLst>
          </a:prstGeom>
          <a:solidFill>
            <a:srgbClr val="F8FAFC"/>
          </a:solidFill>
          <a:ln w="12700">
            <a:solidFill>
              <a:srgbClr val="DDE4EB"/>
            </a:solidFill>
            <a:prstDash val="solid"/>
          </a:ln>
        </p:spPr>
      </p:sp>
      <p:sp>
        <p:nvSpPr>
          <p:cNvPr id="20" name="Text 18"/>
          <p:cNvSpPr/>
          <p:nvPr/>
        </p:nvSpPr>
        <p:spPr>
          <a:xfrm>
            <a:off x="1234440" y="3383280"/>
            <a:ext cx="4572000" cy="1417320"/>
          </a:xfrm>
          <a:prstGeom prst="rect">
            <a:avLst/>
          </a:prstGeom>
          <a:noFill/>
          <a:ln/>
        </p:spPr>
        <p:txBody>
          <a:bodyPr wrap="square" rtlCol="0" anchor="ctr">
            <a:normAutofit/>
          </a:bodyPr>
          <a:lstStyle/>
          <a:p>
            <a:pPr indent="0" marL="0">
              <a:buNone/>
            </a:pPr>
            <a:r>
              <a:rPr lang="en-US" sz="1500" dirty="0">
                <a:solidFill>
                  <a:srgbClr val="0F2742"/>
                </a:solidFill>
                <a:latin typeface="Arial" pitchFamily="34" charset="0"/>
                <a:ea typeface="Arial" pitchFamily="34" charset="-122"/>
                <a:cs typeface="Arial" pitchFamily="34" charset="-120"/>
              </a:rPr>
              <a:t>For each market:</a:t>
            </a:r>
            <a:endParaRPr lang="en-US" sz="1500" dirty="0"/>
          </a:p>
          <a:p>
            <a:pPr indent="0" marL="0">
              <a:buNone/>
            </a:pPr>
            <a:endParaRPr lang="en-US" sz="1500" dirty="0"/>
          </a:p>
          <a:p>
            <a:pPr indent="0" marL="0">
              <a:buNone/>
            </a:pPr>
            <a:r>
              <a:rPr lang="en-US" sz="1500" dirty="0">
                <a:solidFill>
                  <a:srgbClr val="0F2742"/>
                </a:solidFill>
                <a:latin typeface="Arial" pitchFamily="34" charset="0"/>
                <a:ea typeface="Arial" pitchFamily="34" charset="-122"/>
                <a:cs typeface="Arial" pitchFamily="34" charset="-120"/>
              </a:rPr>
              <a:t>- MA 10 / 20 / 50</a:t>
            </a:r>
            <a:endParaRPr lang="en-US" sz="1500" dirty="0"/>
          </a:p>
          <a:p>
            <a:pPr indent="0" marL="0">
              <a:buNone/>
            </a:pPr>
            <a:r>
              <a:rPr lang="en-US" sz="1500" dirty="0">
                <a:solidFill>
                  <a:srgbClr val="0F2742"/>
                </a:solidFill>
                <a:latin typeface="Arial" pitchFamily="34" charset="0"/>
                <a:ea typeface="Arial" pitchFamily="34" charset="-122"/>
                <a:cs typeface="Arial" pitchFamily="34" charset="-120"/>
              </a:rPr>
              <a:t>- EMA 10 / 20 / 50</a:t>
            </a:r>
            <a:endParaRPr lang="en-US" sz="1500" dirty="0"/>
          </a:p>
          <a:p>
            <a:pPr indent="0" marL="0">
              <a:buNone/>
            </a:pPr>
            <a:r>
              <a:rPr lang="en-US" sz="1500" dirty="0">
                <a:solidFill>
                  <a:srgbClr val="0F2742"/>
                </a:solidFill>
                <a:latin typeface="Arial" pitchFamily="34" charset="0"/>
                <a:ea typeface="Arial" pitchFamily="34" charset="-122"/>
                <a:cs typeface="Arial" pitchFamily="34" charset="-120"/>
              </a:rPr>
              <a:t>- Bullish or Bearish trend signal</a:t>
            </a:r>
            <a:endParaRPr lang="en-US" sz="1500" dirty="0"/>
          </a:p>
        </p:txBody>
      </p:sp>
      <p:sp>
        <p:nvSpPr>
          <p:cNvPr id="21" name="Shape 19"/>
          <p:cNvSpPr/>
          <p:nvPr/>
        </p:nvSpPr>
        <p:spPr>
          <a:xfrm>
            <a:off x="6565392" y="3063240"/>
            <a:ext cx="4526280" cy="2240280"/>
          </a:xfrm>
          <a:prstGeom prst="roundRect">
            <a:avLst>
              <a:gd name="adj" fmla="val 3265"/>
            </a:avLst>
          </a:prstGeom>
          <a:solidFill>
            <a:srgbClr val="FFFFFF"/>
          </a:solidFill>
          <a:ln w="12700">
            <a:solidFill>
              <a:srgbClr val="DDE4EB"/>
            </a:solidFill>
            <a:prstDash val="solid"/>
          </a:ln>
        </p:spPr>
      </p:sp>
      <p:sp>
        <p:nvSpPr>
          <p:cNvPr id="22" name="Text 20"/>
          <p:cNvSpPr/>
          <p:nvPr/>
        </p:nvSpPr>
        <p:spPr>
          <a:xfrm>
            <a:off x="6903720" y="3401568"/>
            <a:ext cx="2286000" cy="274320"/>
          </a:xfrm>
          <a:prstGeom prst="rect">
            <a:avLst/>
          </a:prstGeom>
          <a:noFill/>
          <a:ln/>
        </p:spPr>
        <p:txBody>
          <a:bodyPr wrap="square" rtlCol="0" anchor="ctr"/>
          <a:lstStyle/>
          <a:p>
            <a:pPr indent="0" marL="0">
              <a:buNone/>
            </a:pPr>
            <a:r>
              <a:rPr lang="en-US" sz="1250" b="1" dirty="0">
                <a:solidFill>
                  <a:srgbClr val="0F2742"/>
                </a:solidFill>
              </a:rPr>
              <a:t>Signal idea</a:t>
            </a:r>
            <a:endParaRPr lang="en-US" sz="1250" dirty="0"/>
          </a:p>
        </p:txBody>
      </p:sp>
      <p:sp>
        <p:nvSpPr>
          <p:cNvPr id="23" name="Text 21"/>
          <p:cNvSpPr/>
          <p:nvPr/>
        </p:nvSpPr>
        <p:spPr>
          <a:xfrm>
            <a:off x="6903720" y="3913632"/>
            <a:ext cx="3840480" cy="731520"/>
          </a:xfrm>
          <a:prstGeom prst="rect">
            <a:avLst/>
          </a:prstGeom>
          <a:noFill/>
          <a:ln/>
        </p:spPr>
        <p:txBody>
          <a:bodyPr wrap="square" rtlCol="0" anchor="ctr">
            <a:normAutofit/>
          </a:bodyPr>
          <a:lstStyle/>
          <a:p>
            <a:pPr indent="0" marL="0">
              <a:buNone/>
            </a:pPr>
            <a:r>
              <a:rPr lang="en-US" sz="1600" dirty="0">
                <a:solidFill>
                  <a:srgbClr val="0F2742"/>
                </a:solidFill>
              </a:rPr>
              <a:t>If EMA10 &gt; EMA50  → Bullish</a:t>
            </a:r>
            <a:endParaRPr lang="en-US" sz="1600" dirty="0"/>
          </a:p>
          <a:p>
            <a:pPr indent="0" marL="0">
              <a:buNone/>
            </a:pPr>
            <a:r>
              <a:rPr lang="en-US" sz="1600" dirty="0">
                <a:solidFill>
                  <a:srgbClr val="0F2742"/>
                </a:solidFill>
              </a:rPr>
              <a:t>If EMA10 &lt;= EMA50 → Bearish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War Event Charts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Market prices with event dates marked</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8</a:t>
            </a:r>
            <a:endParaRPr lang="en-US" sz="750" dirty="0"/>
          </a:p>
        </p:txBody>
      </p:sp>
      <p:sp>
        <p:nvSpPr>
          <p:cNvPr id="7" name="Shape 5"/>
          <p:cNvSpPr/>
          <p:nvPr/>
        </p:nvSpPr>
        <p:spPr>
          <a:xfrm>
            <a:off x="502920" y="1124712"/>
            <a:ext cx="3703320" cy="1828800"/>
          </a:xfrm>
          <a:prstGeom prst="roundRect">
            <a:avLst>
              <a:gd name="adj" fmla="val 2000"/>
            </a:avLst>
          </a:prstGeom>
          <a:solidFill>
            <a:srgbClr val="FFFFFF"/>
          </a:solidFill>
          <a:ln w="10160">
            <a:solidFill>
              <a:srgbClr val="DDE4EB"/>
            </a:solidFill>
            <a:prstDash val="solid"/>
          </a:ln>
        </p:spPr>
      </p:sp>
      <p:pic>
        <p:nvPicPr>
          <p:cNvPr id="8" name="Image 0" descr="/mnt/data/oil_war_events.png">    </p:cNvPr>
          <p:cNvPicPr>
            <a:picLocks noChangeAspect="1"/>
          </p:cNvPicPr>
          <p:nvPr/>
        </p:nvPicPr>
        <p:blipFill>
          <a:blip r:embed="rId1"/>
          <a:srcRect l="0" r="0" t="0" b="0"/>
          <a:stretch/>
        </p:blipFill>
        <p:spPr>
          <a:xfrm>
            <a:off x="548640" y="1170432"/>
            <a:ext cx="3611880" cy="1737360"/>
          </a:xfrm>
          <a:prstGeom prst="rect">
            <a:avLst/>
          </a:prstGeom>
        </p:spPr>
      </p:pic>
      <p:sp>
        <p:nvSpPr>
          <p:cNvPr id="9" name="Shape 6"/>
          <p:cNvSpPr/>
          <p:nvPr/>
        </p:nvSpPr>
        <p:spPr>
          <a:xfrm>
            <a:off x="4251960" y="1124712"/>
            <a:ext cx="3703320" cy="1828800"/>
          </a:xfrm>
          <a:prstGeom prst="roundRect">
            <a:avLst>
              <a:gd name="adj" fmla="val 2000"/>
            </a:avLst>
          </a:prstGeom>
          <a:solidFill>
            <a:srgbClr val="FFFFFF"/>
          </a:solidFill>
          <a:ln w="10160">
            <a:solidFill>
              <a:srgbClr val="DDE4EB"/>
            </a:solidFill>
            <a:prstDash val="solid"/>
          </a:ln>
        </p:spPr>
      </p:sp>
      <p:pic>
        <p:nvPicPr>
          <p:cNvPr id="10" name="Image 1" descr="/mnt/data/gold_war_events.png">    </p:cNvPr>
          <p:cNvPicPr>
            <a:picLocks noChangeAspect="1"/>
          </p:cNvPicPr>
          <p:nvPr/>
        </p:nvPicPr>
        <p:blipFill>
          <a:blip r:embed="rId2"/>
          <a:srcRect l="0" r="0" t="0" b="0"/>
          <a:stretch/>
        </p:blipFill>
        <p:spPr>
          <a:xfrm>
            <a:off x="4297680" y="1170432"/>
            <a:ext cx="3611880" cy="1737360"/>
          </a:xfrm>
          <a:prstGeom prst="rect">
            <a:avLst/>
          </a:prstGeom>
        </p:spPr>
      </p:pic>
      <p:sp>
        <p:nvSpPr>
          <p:cNvPr id="11" name="Shape 7"/>
          <p:cNvSpPr/>
          <p:nvPr/>
        </p:nvSpPr>
        <p:spPr>
          <a:xfrm>
            <a:off x="8001000" y="1124712"/>
            <a:ext cx="3703320" cy="1828800"/>
          </a:xfrm>
          <a:prstGeom prst="roundRect">
            <a:avLst>
              <a:gd name="adj" fmla="val 2000"/>
            </a:avLst>
          </a:prstGeom>
          <a:solidFill>
            <a:srgbClr val="FFFFFF"/>
          </a:solidFill>
          <a:ln w="10160">
            <a:solidFill>
              <a:srgbClr val="DDE4EB"/>
            </a:solidFill>
            <a:prstDash val="solid"/>
          </a:ln>
        </p:spPr>
      </p:sp>
      <p:pic>
        <p:nvPicPr>
          <p:cNvPr id="12" name="Image 2" descr="/mnt/data/eurusd_war_events.png">    </p:cNvPr>
          <p:cNvPicPr>
            <a:picLocks noChangeAspect="1"/>
          </p:cNvPicPr>
          <p:nvPr/>
        </p:nvPicPr>
        <p:blipFill>
          <a:blip r:embed="rId3"/>
          <a:srcRect l="0" r="0" t="0" b="0"/>
          <a:stretch/>
        </p:blipFill>
        <p:spPr>
          <a:xfrm>
            <a:off x="8046720" y="1170432"/>
            <a:ext cx="3611880" cy="1737360"/>
          </a:xfrm>
          <a:prstGeom prst="rect">
            <a:avLst/>
          </a:prstGeom>
        </p:spPr>
      </p:pic>
      <p:sp>
        <p:nvSpPr>
          <p:cNvPr id="13" name="Shape 8"/>
          <p:cNvSpPr/>
          <p:nvPr/>
        </p:nvSpPr>
        <p:spPr>
          <a:xfrm>
            <a:off x="1234440" y="3063240"/>
            <a:ext cx="2240280" cy="301752"/>
          </a:xfrm>
          <a:prstGeom prst="roundRect">
            <a:avLst>
              <a:gd name="adj" fmla="val 15152"/>
            </a:avLst>
          </a:prstGeom>
          <a:solidFill>
            <a:srgbClr val="1F77B4"/>
          </a:solidFill>
          <a:ln w="12700">
            <a:solidFill>
              <a:srgbClr val="1F77B4"/>
            </a:solidFill>
            <a:prstDash val="solid"/>
          </a:ln>
        </p:spPr>
      </p:sp>
      <p:sp>
        <p:nvSpPr>
          <p:cNvPr id="14" name="Text 9"/>
          <p:cNvSpPr/>
          <p:nvPr/>
        </p:nvSpPr>
        <p:spPr>
          <a:xfrm>
            <a:off x="1234440" y="3104388"/>
            <a:ext cx="2240280" cy="1828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Oil</a:t>
            </a:r>
            <a:endParaRPr lang="en-US" sz="850" dirty="0"/>
          </a:p>
        </p:txBody>
      </p:sp>
      <p:sp>
        <p:nvSpPr>
          <p:cNvPr id="15" name="Shape 10"/>
          <p:cNvSpPr/>
          <p:nvPr/>
        </p:nvSpPr>
        <p:spPr>
          <a:xfrm>
            <a:off x="4983480" y="3063240"/>
            <a:ext cx="2240280" cy="301752"/>
          </a:xfrm>
          <a:prstGeom prst="roundRect">
            <a:avLst>
              <a:gd name="adj" fmla="val 15152"/>
            </a:avLst>
          </a:prstGeom>
          <a:solidFill>
            <a:srgbClr val="D4A017"/>
          </a:solidFill>
          <a:ln w="12700">
            <a:solidFill>
              <a:srgbClr val="D4A017"/>
            </a:solidFill>
            <a:prstDash val="solid"/>
          </a:ln>
        </p:spPr>
      </p:sp>
      <p:sp>
        <p:nvSpPr>
          <p:cNvPr id="16" name="Text 11"/>
          <p:cNvSpPr/>
          <p:nvPr/>
        </p:nvSpPr>
        <p:spPr>
          <a:xfrm>
            <a:off x="4983480" y="3104388"/>
            <a:ext cx="2240280" cy="1828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Gold</a:t>
            </a:r>
            <a:endParaRPr lang="en-US" sz="850" dirty="0"/>
          </a:p>
        </p:txBody>
      </p:sp>
      <p:sp>
        <p:nvSpPr>
          <p:cNvPr id="17" name="Shape 12"/>
          <p:cNvSpPr/>
          <p:nvPr/>
        </p:nvSpPr>
        <p:spPr>
          <a:xfrm>
            <a:off x="8732520" y="3063240"/>
            <a:ext cx="2240280" cy="301752"/>
          </a:xfrm>
          <a:prstGeom prst="roundRect">
            <a:avLst>
              <a:gd name="adj" fmla="val 15152"/>
            </a:avLst>
          </a:prstGeom>
          <a:solidFill>
            <a:srgbClr val="2E7D32"/>
          </a:solidFill>
          <a:ln w="12700">
            <a:solidFill>
              <a:srgbClr val="2E7D32"/>
            </a:solidFill>
            <a:prstDash val="solid"/>
          </a:ln>
        </p:spPr>
      </p:sp>
      <p:sp>
        <p:nvSpPr>
          <p:cNvPr id="18" name="Text 13"/>
          <p:cNvSpPr/>
          <p:nvPr/>
        </p:nvSpPr>
        <p:spPr>
          <a:xfrm>
            <a:off x="8732520" y="3104388"/>
            <a:ext cx="2240280" cy="1828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EUR/USD</a:t>
            </a:r>
            <a:endParaRPr lang="en-US" sz="850" dirty="0"/>
          </a:p>
        </p:txBody>
      </p:sp>
      <p:sp>
        <p:nvSpPr>
          <p:cNvPr id="19" name="Shape 14"/>
          <p:cNvSpPr/>
          <p:nvPr/>
        </p:nvSpPr>
        <p:spPr>
          <a:xfrm>
            <a:off x="960120" y="4251960"/>
            <a:ext cx="10287000" cy="960120"/>
          </a:xfrm>
          <a:prstGeom prst="roundRect">
            <a:avLst>
              <a:gd name="adj" fmla="val 7619"/>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20" name="Shape 15"/>
          <p:cNvSpPr/>
          <p:nvPr/>
        </p:nvSpPr>
        <p:spPr>
          <a:xfrm>
            <a:off x="960120" y="4251960"/>
            <a:ext cx="73152" cy="960120"/>
          </a:xfrm>
          <a:prstGeom prst="rect">
            <a:avLst/>
          </a:prstGeom>
          <a:solidFill>
            <a:srgbClr val="C62828"/>
          </a:solidFill>
          <a:ln w="12700">
            <a:solidFill>
              <a:srgbClr val="C62828"/>
            </a:solidFill>
            <a:prstDash val="solid"/>
          </a:ln>
        </p:spPr>
      </p:sp>
      <p:sp>
        <p:nvSpPr>
          <p:cNvPr id="21" name="Text 16"/>
          <p:cNvSpPr/>
          <p:nvPr/>
        </p:nvSpPr>
        <p:spPr>
          <a:xfrm>
            <a:off x="1161288" y="4398264"/>
            <a:ext cx="99669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What to look at</a:t>
            </a:r>
            <a:endParaRPr lang="en-US" sz="1250" dirty="0"/>
          </a:p>
        </p:txBody>
      </p:sp>
      <p:sp>
        <p:nvSpPr>
          <p:cNvPr id="22" name="Text 17"/>
          <p:cNvSpPr/>
          <p:nvPr/>
        </p:nvSpPr>
        <p:spPr>
          <a:xfrm>
            <a:off x="1161288" y="4754880"/>
            <a:ext cx="9966960" cy="3657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The vertical lines mark war-related events. The charts help visually inspect market movement around these dates.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Indicator Results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EMA bullish vs. bearish conditions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9</a:t>
            </a:r>
            <a:endParaRPr lang="en-US" sz="750" dirty="0"/>
          </a:p>
        </p:txBody>
      </p:sp>
      <p:sp>
        <p:nvSpPr>
          <p:cNvPr id="7" name="Shape 5"/>
          <p:cNvSpPr/>
          <p:nvPr/>
        </p:nvSpPr>
        <p:spPr>
          <a:xfrm>
            <a:off x="685800" y="1097280"/>
            <a:ext cx="5349240" cy="3337560"/>
          </a:xfrm>
          <a:prstGeom prst="roundRect">
            <a:avLst>
              <a:gd name="adj" fmla="val 1096"/>
            </a:avLst>
          </a:prstGeom>
          <a:solidFill>
            <a:srgbClr val="FFFFFF"/>
          </a:solidFill>
          <a:ln w="10160">
            <a:solidFill>
              <a:srgbClr val="DDE4EB"/>
            </a:solidFill>
            <a:prstDash val="solid"/>
          </a:ln>
        </p:spPr>
      </p:sp>
      <p:pic>
        <p:nvPicPr>
          <p:cNvPr id="8" name="Image 0" descr="/mnt/data/ema_signal_groupby_performance.png">    </p:cNvPr>
          <p:cNvPicPr>
            <a:picLocks noChangeAspect="1"/>
          </p:cNvPicPr>
          <p:nvPr/>
        </p:nvPicPr>
        <p:blipFill>
          <a:blip r:embed="rId1"/>
          <a:srcRect l="0" r="0" t="0" b="0"/>
          <a:stretch/>
        </p:blipFill>
        <p:spPr>
          <a:xfrm>
            <a:off x="731520" y="1143000"/>
            <a:ext cx="5257800" cy="3246120"/>
          </a:xfrm>
          <a:prstGeom prst="rect">
            <a:avLst/>
          </a:prstGeom>
        </p:spPr>
      </p:pic>
      <p:sp>
        <p:nvSpPr>
          <p:cNvPr id="9" name="Shape 6"/>
          <p:cNvSpPr/>
          <p:nvPr/>
        </p:nvSpPr>
        <p:spPr>
          <a:xfrm>
            <a:off x="6355080" y="1097280"/>
            <a:ext cx="5257800" cy="3337560"/>
          </a:xfrm>
          <a:prstGeom prst="roundRect">
            <a:avLst>
              <a:gd name="adj" fmla="val 1096"/>
            </a:avLst>
          </a:prstGeom>
          <a:solidFill>
            <a:srgbClr val="FFFFFF"/>
          </a:solidFill>
          <a:ln w="10160">
            <a:solidFill>
              <a:srgbClr val="DDE4EB"/>
            </a:solidFill>
            <a:prstDash val="solid"/>
          </a:ln>
        </p:spPr>
      </p:sp>
      <p:pic>
        <p:nvPicPr>
          <p:cNvPr id="10" name="Image 1" descr="/mnt/data/oil_ma_ema_indicator_chart.png">    </p:cNvPr>
          <p:cNvPicPr>
            <a:picLocks noChangeAspect="1"/>
          </p:cNvPicPr>
          <p:nvPr/>
        </p:nvPicPr>
        <p:blipFill>
          <a:blip r:embed="rId2"/>
          <a:srcRect l="0" r="0" t="0" b="0"/>
          <a:stretch/>
        </p:blipFill>
        <p:spPr>
          <a:xfrm>
            <a:off x="6400800" y="1143000"/>
            <a:ext cx="5166360" cy="3246120"/>
          </a:xfrm>
          <a:prstGeom prst="rect">
            <a:avLst/>
          </a:prstGeom>
        </p:spPr>
      </p:pic>
      <p:sp>
        <p:nvSpPr>
          <p:cNvPr id="11" name="Text 7"/>
          <p:cNvSpPr/>
          <p:nvPr/>
        </p:nvSpPr>
        <p:spPr>
          <a:xfrm>
            <a:off x="822960" y="4681728"/>
            <a:ext cx="2926080" cy="274320"/>
          </a:xfrm>
          <a:prstGeom prst="rect">
            <a:avLst/>
          </a:prstGeom>
          <a:noFill/>
          <a:ln/>
        </p:spPr>
        <p:txBody>
          <a:bodyPr wrap="square" rtlCol="0" anchor="ctr"/>
          <a:lstStyle/>
          <a:p>
            <a:pPr indent="0" marL="0">
              <a:buNone/>
            </a:pPr>
            <a:r>
              <a:rPr lang="en-US" sz="1350" b="1" dirty="0">
                <a:solidFill>
                  <a:srgbClr val="0F2742"/>
                </a:solidFill>
              </a:rPr>
              <a:t>EMA signal summary</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41248" y="5029200"/>
          <a:ext cx="4389120" cy="1024128"/>
        </p:xfrm>
        <a:graphic>
          <a:graphicData uri="http://schemas.openxmlformats.org/drawingml/2006/table">
            <a:tbl>
              <a:tblPr/>
              <a:tblGrid>
                <a:gridCol w="1371600"/>
                <a:gridCol w="1508760"/>
                <a:gridCol w="1508760"/>
              </a:tblGrid>
              <a:tr h="246888">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Market</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Bullish</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Bearish</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r>
              <a:tr h="246888">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EUR/USD</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0.033%</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0.011%</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r>
              <a:tr h="246888">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Gold</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0.167%</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0.042%</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r>
              <a:tr h="246888">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Oil</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0.430%</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F2742"/>
                          </a:solidFill>
                          <a:latin typeface="Arial" pitchFamily="34" charset="0"/>
                          <a:ea typeface="Arial" pitchFamily="34" charset="-122"/>
                          <a:cs typeface="Arial" pitchFamily="34" charset="-120"/>
                        </a:rPr>
                        <a:t>-0.019%</a:t>
                      </a:r>
                      <a:endParaRPr lang="en-US" sz="850" dirty="0">
                        <a:latin typeface="Arial" charset="0"/>
                        <a:ea typeface="Arial" charset="0"/>
                        <a:cs typeface="Arial" charset="0"/>
                      </a:endParaRPr>
                    </a:p>
                  </a:txBody>
                  <a:tcPr marL="36576" marR="36576" marT="36576" marB="36576" anchor="mid">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r>
            </a:tbl>
          </a:graphicData>
        </a:graphic>
      </p:graphicFrame>
      <p:sp>
        <p:nvSpPr>
          <p:cNvPr id="13" name="Shape 8"/>
          <p:cNvSpPr/>
          <p:nvPr/>
        </p:nvSpPr>
        <p:spPr>
          <a:xfrm>
            <a:off x="6355080" y="4681728"/>
            <a:ext cx="5257800" cy="1143000"/>
          </a:xfrm>
          <a:prstGeom prst="roundRect">
            <a:avLst>
              <a:gd name="adj" fmla="val 64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4" name="Shape 9"/>
          <p:cNvSpPr/>
          <p:nvPr/>
        </p:nvSpPr>
        <p:spPr>
          <a:xfrm>
            <a:off x="6355080" y="4681728"/>
            <a:ext cx="73152" cy="1143000"/>
          </a:xfrm>
          <a:prstGeom prst="rect">
            <a:avLst/>
          </a:prstGeom>
          <a:solidFill>
            <a:srgbClr val="2E7D32"/>
          </a:solidFill>
          <a:ln w="12700">
            <a:solidFill>
              <a:srgbClr val="2E7D32"/>
            </a:solidFill>
            <a:prstDash val="solid"/>
          </a:ln>
        </p:spPr>
      </p:sp>
      <p:sp>
        <p:nvSpPr>
          <p:cNvPr id="15" name="Text 10"/>
          <p:cNvSpPr/>
          <p:nvPr/>
        </p:nvSpPr>
        <p:spPr>
          <a:xfrm>
            <a:off x="6556248" y="4828032"/>
            <a:ext cx="493776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Interpretation</a:t>
            </a:r>
            <a:endParaRPr lang="en-US" sz="1250" dirty="0"/>
          </a:p>
        </p:txBody>
      </p:sp>
      <p:sp>
        <p:nvSpPr>
          <p:cNvPr id="16" name="Text 11"/>
          <p:cNvSpPr/>
          <p:nvPr/>
        </p:nvSpPr>
        <p:spPr>
          <a:xfrm>
            <a:off x="6556248" y="5184648"/>
            <a:ext cx="4937760" cy="54864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In this dataset, EMA bullish conditions are more positive, especially for oil.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Event Window Analysis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Average 5-day change after events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10</a:t>
            </a:r>
            <a:endParaRPr lang="en-US" sz="750" dirty="0"/>
          </a:p>
        </p:txBody>
      </p:sp>
      <p:sp>
        <p:nvSpPr>
          <p:cNvPr id="7" name="Shape 5"/>
          <p:cNvSpPr/>
          <p:nvPr/>
        </p:nvSpPr>
        <p:spPr>
          <a:xfrm>
            <a:off x="777240" y="1143000"/>
            <a:ext cx="5486400" cy="4069080"/>
          </a:xfrm>
          <a:prstGeom prst="roundRect">
            <a:avLst>
              <a:gd name="adj" fmla="val 899"/>
            </a:avLst>
          </a:prstGeom>
          <a:solidFill>
            <a:srgbClr val="FFFFFF"/>
          </a:solidFill>
          <a:ln w="10160">
            <a:solidFill>
              <a:srgbClr val="DDE4EB"/>
            </a:solidFill>
            <a:prstDash val="solid"/>
          </a:ln>
        </p:spPr>
      </p:sp>
      <p:pic>
        <p:nvPicPr>
          <p:cNvPr id="8" name="Image 0" descr="/mnt/data/avg_5d_change_after_events.png">    </p:cNvPr>
          <p:cNvPicPr>
            <a:picLocks noChangeAspect="1"/>
          </p:cNvPicPr>
          <p:nvPr/>
        </p:nvPicPr>
        <p:blipFill>
          <a:blip r:embed="rId1"/>
          <a:srcRect l="0" r="0" t="0" b="0"/>
          <a:stretch/>
        </p:blipFill>
        <p:spPr>
          <a:xfrm>
            <a:off x="822960" y="1188720"/>
            <a:ext cx="5394960" cy="3977640"/>
          </a:xfrm>
          <a:prstGeom prst="rect">
            <a:avLst/>
          </a:prstGeom>
        </p:spPr>
      </p:pic>
      <p:sp>
        <p:nvSpPr>
          <p:cNvPr id="9" name="Shape 6"/>
          <p:cNvSpPr/>
          <p:nvPr/>
        </p:nvSpPr>
        <p:spPr>
          <a:xfrm>
            <a:off x="6675120" y="1234440"/>
            <a:ext cx="4480560" cy="960120"/>
          </a:xfrm>
          <a:prstGeom prst="roundRect">
            <a:avLst>
              <a:gd name="adj" fmla="val 7619"/>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0" name="Shape 7"/>
          <p:cNvSpPr/>
          <p:nvPr/>
        </p:nvSpPr>
        <p:spPr>
          <a:xfrm>
            <a:off x="6675120" y="1234440"/>
            <a:ext cx="73152" cy="960120"/>
          </a:xfrm>
          <a:prstGeom prst="rect">
            <a:avLst/>
          </a:prstGeom>
          <a:solidFill>
            <a:srgbClr val="1F77B4"/>
          </a:solidFill>
          <a:ln w="12700">
            <a:solidFill>
              <a:srgbClr val="1F77B4"/>
            </a:solidFill>
            <a:prstDash val="solid"/>
          </a:ln>
        </p:spPr>
      </p:sp>
      <p:sp>
        <p:nvSpPr>
          <p:cNvPr id="11" name="Text 8"/>
          <p:cNvSpPr/>
          <p:nvPr/>
        </p:nvSpPr>
        <p:spPr>
          <a:xfrm>
            <a:off x="6876288" y="1380744"/>
            <a:ext cx="416052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Method</a:t>
            </a:r>
            <a:endParaRPr lang="en-US" sz="1250" dirty="0"/>
          </a:p>
        </p:txBody>
      </p:sp>
      <p:sp>
        <p:nvSpPr>
          <p:cNvPr id="12" name="Text 9"/>
          <p:cNvSpPr/>
          <p:nvPr/>
        </p:nvSpPr>
        <p:spPr>
          <a:xfrm>
            <a:off x="6876288" y="1737360"/>
            <a:ext cx="4160520" cy="3657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For each event: compare average returns 5 days before and 5 days after.</a:t>
            </a:r>
            <a:endParaRPr lang="en-US" sz="1050" dirty="0"/>
          </a:p>
        </p:txBody>
      </p:sp>
      <p:sp>
        <p:nvSpPr>
          <p:cNvPr id="13" name="Shape 10"/>
          <p:cNvSpPr/>
          <p:nvPr/>
        </p:nvSpPr>
        <p:spPr>
          <a:xfrm>
            <a:off x="6675120" y="2514600"/>
            <a:ext cx="4480560" cy="960120"/>
          </a:xfrm>
          <a:prstGeom prst="roundRect">
            <a:avLst>
              <a:gd name="adj" fmla="val 7619"/>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4" name="Shape 11"/>
          <p:cNvSpPr/>
          <p:nvPr/>
        </p:nvSpPr>
        <p:spPr>
          <a:xfrm>
            <a:off x="6675120" y="2514600"/>
            <a:ext cx="73152" cy="960120"/>
          </a:xfrm>
          <a:prstGeom prst="rect">
            <a:avLst/>
          </a:prstGeom>
          <a:solidFill>
            <a:srgbClr val="D4A017"/>
          </a:solidFill>
          <a:ln w="12700">
            <a:solidFill>
              <a:srgbClr val="D4A017"/>
            </a:solidFill>
            <a:prstDash val="solid"/>
          </a:ln>
        </p:spPr>
      </p:sp>
      <p:sp>
        <p:nvSpPr>
          <p:cNvPr id="15" name="Text 12"/>
          <p:cNvSpPr/>
          <p:nvPr/>
        </p:nvSpPr>
        <p:spPr>
          <a:xfrm>
            <a:off x="6876288" y="2660904"/>
            <a:ext cx="416052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Main observation</a:t>
            </a:r>
            <a:endParaRPr lang="en-US" sz="1250" dirty="0"/>
          </a:p>
        </p:txBody>
      </p:sp>
      <p:sp>
        <p:nvSpPr>
          <p:cNvPr id="16" name="Text 13"/>
          <p:cNvSpPr/>
          <p:nvPr/>
        </p:nvSpPr>
        <p:spPr>
          <a:xfrm>
            <a:off x="6876288" y="3017520"/>
            <a:ext cx="4160520" cy="3657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Oil shows the strongest positive average change after events.</a:t>
            </a:r>
            <a:endParaRPr lang="en-US" sz="1050" dirty="0"/>
          </a:p>
        </p:txBody>
      </p:sp>
      <p:sp>
        <p:nvSpPr>
          <p:cNvPr id="17" name="Shape 14"/>
          <p:cNvSpPr/>
          <p:nvPr/>
        </p:nvSpPr>
        <p:spPr>
          <a:xfrm>
            <a:off x="6675120" y="3794760"/>
            <a:ext cx="4480560" cy="960120"/>
          </a:xfrm>
          <a:prstGeom prst="roundRect">
            <a:avLst>
              <a:gd name="adj" fmla="val 7619"/>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8" name="Shape 15"/>
          <p:cNvSpPr/>
          <p:nvPr/>
        </p:nvSpPr>
        <p:spPr>
          <a:xfrm>
            <a:off x="6675120" y="3794760"/>
            <a:ext cx="73152" cy="960120"/>
          </a:xfrm>
          <a:prstGeom prst="rect">
            <a:avLst/>
          </a:prstGeom>
          <a:solidFill>
            <a:srgbClr val="C62828"/>
          </a:solidFill>
          <a:ln w="12700">
            <a:solidFill>
              <a:srgbClr val="C62828"/>
            </a:solidFill>
            <a:prstDash val="solid"/>
          </a:ln>
        </p:spPr>
      </p:sp>
      <p:sp>
        <p:nvSpPr>
          <p:cNvPr id="19" name="Text 16"/>
          <p:cNvSpPr/>
          <p:nvPr/>
        </p:nvSpPr>
        <p:spPr>
          <a:xfrm>
            <a:off x="6876288" y="3941064"/>
            <a:ext cx="416052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Careful interpretation</a:t>
            </a:r>
            <a:endParaRPr lang="en-US" sz="1250" dirty="0"/>
          </a:p>
        </p:txBody>
      </p:sp>
      <p:sp>
        <p:nvSpPr>
          <p:cNvPr id="20" name="Text 17"/>
          <p:cNvSpPr/>
          <p:nvPr/>
        </p:nvSpPr>
        <p:spPr>
          <a:xfrm>
            <a:off x="6876288" y="4297680"/>
            <a:ext cx="4160520" cy="3657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This indicates association in this dataset, not a proven causal effect.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Key Findings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What the analysis suggests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11</a:t>
            </a:r>
            <a:endParaRPr lang="en-US" sz="750" dirty="0"/>
          </a:p>
        </p:txBody>
      </p:sp>
      <p:sp>
        <p:nvSpPr>
          <p:cNvPr id="7" name="Shape 5"/>
          <p:cNvSpPr/>
          <p:nvPr/>
        </p:nvSpPr>
        <p:spPr>
          <a:xfrm>
            <a:off x="777240" y="1143000"/>
            <a:ext cx="3474720" cy="1325880"/>
          </a:xfrm>
          <a:prstGeom prst="roundRect">
            <a:avLst>
              <a:gd name="adj" fmla="val 551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8" name="Shape 6"/>
          <p:cNvSpPr/>
          <p:nvPr/>
        </p:nvSpPr>
        <p:spPr>
          <a:xfrm>
            <a:off x="777240" y="1143000"/>
            <a:ext cx="73152" cy="1325880"/>
          </a:xfrm>
          <a:prstGeom prst="rect">
            <a:avLst/>
          </a:prstGeom>
          <a:solidFill>
            <a:srgbClr val="1F77B4"/>
          </a:solidFill>
          <a:ln w="12700">
            <a:solidFill>
              <a:srgbClr val="1F77B4"/>
            </a:solidFill>
            <a:prstDash val="solid"/>
          </a:ln>
        </p:spPr>
      </p:sp>
      <p:sp>
        <p:nvSpPr>
          <p:cNvPr id="9" name="Text 7"/>
          <p:cNvSpPr/>
          <p:nvPr/>
        </p:nvSpPr>
        <p:spPr>
          <a:xfrm>
            <a:off x="978408" y="1289304"/>
            <a:ext cx="31546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Oil</a:t>
            </a:r>
            <a:endParaRPr lang="en-US" sz="1250" dirty="0"/>
          </a:p>
        </p:txBody>
      </p:sp>
      <p:sp>
        <p:nvSpPr>
          <p:cNvPr id="10" name="Text 8"/>
          <p:cNvSpPr/>
          <p:nvPr/>
        </p:nvSpPr>
        <p:spPr>
          <a:xfrm>
            <a:off x="978408" y="1645920"/>
            <a:ext cx="3154680" cy="73152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Strongest positive reaction in the 5-day post-event window.</a:t>
            </a:r>
            <a:endParaRPr lang="en-US" sz="1050" dirty="0"/>
          </a:p>
        </p:txBody>
      </p:sp>
      <p:sp>
        <p:nvSpPr>
          <p:cNvPr id="11" name="Shape 9"/>
          <p:cNvSpPr/>
          <p:nvPr/>
        </p:nvSpPr>
        <p:spPr>
          <a:xfrm>
            <a:off x="4434840" y="1143000"/>
            <a:ext cx="3474720" cy="1325880"/>
          </a:xfrm>
          <a:prstGeom prst="roundRect">
            <a:avLst>
              <a:gd name="adj" fmla="val 551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4434840" y="1143000"/>
            <a:ext cx="73152" cy="1325880"/>
          </a:xfrm>
          <a:prstGeom prst="rect">
            <a:avLst/>
          </a:prstGeom>
          <a:solidFill>
            <a:srgbClr val="D4A017"/>
          </a:solidFill>
          <a:ln w="12700">
            <a:solidFill>
              <a:srgbClr val="D4A017"/>
            </a:solidFill>
            <a:prstDash val="solid"/>
          </a:ln>
        </p:spPr>
      </p:sp>
      <p:sp>
        <p:nvSpPr>
          <p:cNvPr id="13" name="Text 11"/>
          <p:cNvSpPr/>
          <p:nvPr/>
        </p:nvSpPr>
        <p:spPr>
          <a:xfrm>
            <a:off x="4636008" y="1289304"/>
            <a:ext cx="31546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Gold</a:t>
            </a:r>
            <a:endParaRPr lang="en-US" sz="1250" dirty="0"/>
          </a:p>
        </p:txBody>
      </p:sp>
      <p:sp>
        <p:nvSpPr>
          <p:cNvPr id="14" name="Text 12"/>
          <p:cNvSpPr/>
          <p:nvPr/>
        </p:nvSpPr>
        <p:spPr>
          <a:xfrm>
            <a:off x="4636008" y="1645920"/>
            <a:ext cx="3154680" cy="73152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Often considered a safe-haven asset, but results depend on this specific dataset.</a:t>
            </a:r>
            <a:endParaRPr lang="en-US" sz="1050" dirty="0"/>
          </a:p>
        </p:txBody>
      </p:sp>
      <p:sp>
        <p:nvSpPr>
          <p:cNvPr id="15" name="Shape 13"/>
          <p:cNvSpPr/>
          <p:nvPr/>
        </p:nvSpPr>
        <p:spPr>
          <a:xfrm>
            <a:off x="8092440" y="1143000"/>
            <a:ext cx="3474720" cy="1325880"/>
          </a:xfrm>
          <a:prstGeom prst="roundRect">
            <a:avLst>
              <a:gd name="adj" fmla="val 5517"/>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6" name="Shape 14"/>
          <p:cNvSpPr/>
          <p:nvPr/>
        </p:nvSpPr>
        <p:spPr>
          <a:xfrm>
            <a:off x="8092440" y="1143000"/>
            <a:ext cx="73152" cy="1325880"/>
          </a:xfrm>
          <a:prstGeom prst="rect">
            <a:avLst/>
          </a:prstGeom>
          <a:solidFill>
            <a:srgbClr val="2E7D32"/>
          </a:solidFill>
          <a:ln w="12700">
            <a:solidFill>
              <a:srgbClr val="2E7D32"/>
            </a:solidFill>
            <a:prstDash val="solid"/>
          </a:ln>
        </p:spPr>
      </p:sp>
      <p:sp>
        <p:nvSpPr>
          <p:cNvPr id="17" name="Text 15"/>
          <p:cNvSpPr/>
          <p:nvPr/>
        </p:nvSpPr>
        <p:spPr>
          <a:xfrm>
            <a:off x="8293608" y="1289304"/>
            <a:ext cx="315468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EUR/USD</a:t>
            </a:r>
            <a:endParaRPr lang="en-US" sz="1250" dirty="0"/>
          </a:p>
        </p:txBody>
      </p:sp>
      <p:sp>
        <p:nvSpPr>
          <p:cNvPr id="18" name="Text 16"/>
          <p:cNvSpPr/>
          <p:nvPr/>
        </p:nvSpPr>
        <p:spPr>
          <a:xfrm>
            <a:off x="8293608" y="1645920"/>
            <a:ext cx="3154680" cy="73152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Reaction is more complex because currencies depend on many global factors.</a:t>
            </a:r>
            <a:endParaRPr lang="en-US" sz="1050" dirty="0"/>
          </a:p>
        </p:txBody>
      </p:sp>
      <p:sp>
        <p:nvSpPr>
          <p:cNvPr id="19" name="Text 17"/>
          <p:cNvSpPr/>
          <p:nvPr/>
        </p:nvSpPr>
        <p:spPr>
          <a:xfrm>
            <a:off x="868680" y="3154680"/>
            <a:ext cx="4480560" cy="274320"/>
          </a:xfrm>
          <a:prstGeom prst="rect">
            <a:avLst/>
          </a:prstGeom>
          <a:noFill/>
          <a:ln/>
        </p:spPr>
        <p:txBody>
          <a:bodyPr wrap="square" rtlCol="0" anchor="ctr"/>
          <a:lstStyle/>
          <a:p>
            <a:pPr indent="0" marL="0">
              <a:buNone/>
            </a:pPr>
            <a:r>
              <a:rPr lang="en-US" sz="1500" b="1" dirty="0">
                <a:solidFill>
                  <a:srgbClr val="0F2742"/>
                </a:solidFill>
              </a:rPr>
              <a:t>Data Science skills demonstrated</a:t>
            </a:r>
            <a:endParaRPr lang="en-US" sz="1500" dirty="0"/>
          </a:p>
        </p:txBody>
      </p:sp>
      <p:sp>
        <p:nvSpPr>
          <p:cNvPr id="20" name="Text 18"/>
          <p:cNvSpPr/>
          <p:nvPr/>
        </p:nvSpPr>
        <p:spPr>
          <a:xfrm>
            <a:off x="960120" y="3566160"/>
            <a:ext cx="4937760" cy="2011680"/>
          </a:xfrm>
          <a:prstGeom prst="rect">
            <a:avLst/>
          </a:prstGeom>
          <a:noFill/>
          <a:ln/>
        </p:spPr>
        <p:txBody>
          <a:bodyPr wrap="square" rtlCol="0" anchor="t">
            <a:normAutofit/>
          </a:bodyPr>
          <a:lstStyle/>
          <a:p>
            <a:pPr marL="177800" indent="-177800">
              <a:buSzPct val="100000"/>
              <a:buChar char="•"/>
            </a:pPr>
            <a:r>
              <a:rPr lang="en-US" sz="1350" dirty="0">
                <a:solidFill>
                  <a:srgbClr val="0F2742"/>
                </a:solidFill>
                <a:latin typeface="Arial" pitchFamily="34" charset="0"/>
                <a:ea typeface="Arial" pitchFamily="34" charset="-122"/>
                <a:cs typeface="Arial" pitchFamily="34" charset="-120"/>
              </a:rPr>
              <a:t>CSV loading and cleaning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Merging datasets by date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Daily return calculation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Groupby analysis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MA/EMA indicators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Visual storytelling</a:t>
            </a:r>
            <a:endParaRPr lang="en-US" sz="1350" dirty="0"/>
          </a:p>
        </p:txBody>
      </p:sp>
      <p:sp>
        <p:nvSpPr>
          <p:cNvPr id="21" name="Shape 19"/>
          <p:cNvSpPr/>
          <p:nvPr/>
        </p:nvSpPr>
        <p:spPr>
          <a:xfrm>
            <a:off x="6400800" y="3246120"/>
            <a:ext cx="4754880" cy="1920240"/>
          </a:xfrm>
          <a:prstGeom prst="roundRect">
            <a:avLst>
              <a:gd name="adj" fmla="val 3810"/>
            </a:avLst>
          </a:prstGeom>
          <a:solidFill>
            <a:srgbClr val="DCEBFA"/>
          </a:solidFill>
          <a:ln w="12700">
            <a:solidFill>
              <a:srgbClr val="BFD7EF"/>
            </a:solidFill>
            <a:prstDash val="solid"/>
          </a:ln>
        </p:spPr>
      </p:sp>
      <p:sp>
        <p:nvSpPr>
          <p:cNvPr id="22" name="Text 20"/>
          <p:cNvSpPr/>
          <p:nvPr/>
        </p:nvSpPr>
        <p:spPr>
          <a:xfrm>
            <a:off x="6720840" y="3520440"/>
            <a:ext cx="2743200" cy="274320"/>
          </a:xfrm>
          <a:prstGeom prst="rect">
            <a:avLst/>
          </a:prstGeom>
          <a:noFill/>
          <a:ln/>
        </p:spPr>
        <p:txBody>
          <a:bodyPr wrap="square" rtlCol="0" anchor="ctr"/>
          <a:lstStyle/>
          <a:p>
            <a:pPr indent="0" marL="0">
              <a:buNone/>
            </a:pPr>
            <a:r>
              <a:rPr lang="en-US" sz="1250" b="1" dirty="0">
                <a:solidFill>
                  <a:srgbClr val="0F2742"/>
                </a:solidFill>
              </a:rPr>
              <a:t>Main conclusion</a:t>
            </a:r>
            <a:endParaRPr lang="en-US" sz="1250" dirty="0"/>
          </a:p>
        </p:txBody>
      </p:sp>
      <p:sp>
        <p:nvSpPr>
          <p:cNvPr id="23" name="Text 21"/>
          <p:cNvSpPr/>
          <p:nvPr/>
        </p:nvSpPr>
        <p:spPr>
          <a:xfrm>
            <a:off x="6720840" y="3977640"/>
            <a:ext cx="4069080" cy="777240"/>
          </a:xfrm>
          <a:prstGeom prst="rect">
            <a:avLst/>
          </a:prstGeom>
          <a:noFill/>
          <a:ln/>
        </p:spPr>
        <p:txBody>
          <a:bodyPr wrap="square" rtlCol="0" anchor="ctr">
            <a:normAutofit/>
          </a:bodyPr>
          <a:lstStyle/>
          <a:p>
            <a:pPr indent="0" marL="0">
              <a:buNone/>
            </a:pPr>
            <a:r>
              <a:rPr lang="en-US" sz="1700" b="1" dirty="0">
                <a:solidFill>
                  <a:srgbClr val="0F2742"/>
                </a:solidFill>
              </a:rPr>
              <a:t>Markets show visible changes around geopolitical events, but the project does not prove causation.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indent="0" marL="0">
              <a:buNone/>
            </a:pPr>
            <a:r>
              <a:rPr lang="en-US" sz="2100" b="1" dirty="0">
                <a:solidFill>
                  <a:srgbClr val="0F2742"/>
                </a:solidFill>
                <a:latin typeface="Arial" pitchFamily="34" charset="0"/>
                <a:ea typeface="Arial" pitchFamily="34" charset="-122"/>
                <a:cs typeface="Arial" pitchFamily="34" charset="-120"/>
              </a:rPr>
              <a:t>Limitations &amp; Conclusion</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indent="0" marL="0">
              <a:buNone/>
            </a:pPr>
            <a:r>
              <a:rPr lang="en-US" sz="950" dirty="0">
                <a:solidFill>
                  <a:srgbClr val="5B6770"/>
                </a:solidFill>
                <a:latin typeface="Arial" pitchFamily="34" charset="0"/>
                <a:ea typeface="Arial" pitchFamily="34" charset="-122"/>
                <a:cs typeface="Arial" pitchFamily="34" charset="-120"/>
              </a:rPr>
              <a:t>Simple, complete, and explainable</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sp>
      <p:sp>
        <p:nvSpPr>
          <p:cNvPr id="5" name="Text 3"/>
          <p:cNvSpPr/>
          <p:nvPr/>
        </p:nvSpPr>
        <p:spPr>
          <a:xfrm>
            <a:off x="548640" y="6537960"/>
            <a:ext cx="6583680" cy="164592"/>
          </a:xfrm>
          <a:prstGeom prst="rect">
            <a:avLst/>
          </a:prstGeom>
          <a:noFill/>
          <a:ln/>
        </p:spPr>
        <p:txBody>
          <a:bodyPr wrap="square" rtlCol="0" anchor="ctr"/>
          <a:lstStyle/>
          <a:p>
            <a:pPr indent="0" marL="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algn="r" indent="0" marL="0">
              <a:buNone/>
            </a:pPr>
            <a:r>
              <a:rPr lang="en-US" sz="750" dirty="0">
                <a:solidFill>
                  <a:srgbClr val="7A8691"/>
                </a:solidFill>
                <a:latin typeface="Arial" pitchFamily="34" charset="0"/>
                <a:ea typeface="Arial" pitchFamily="34" charset="-122"/>
                <a:cs typeface="Arial" pitchFamily="34" charset="-120"/>
              </a:rPr>
              <a:t>12</a:t>
            </a:r>
            <a:endParaRPr lang="en-US" sz="750" dirty="0"/>
          </a:p>
        </p:txBody>
      </p:sp>
      <p:sp>
        <p:nvSpPr>
          <p:cNvPr id="7" name="Text 5"/>
          <p:cNvSpPr/>
          <p:nvPr/>
        </p:nvSpPr>
        <p:spPr>
          <a:xfrm>
            <a:off x="822960" y="1234440"/>
            <a:ext cx="5257800" cy="256032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The dataset contains a limited number of war events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Markets are influenced by many other factors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Association does not prove causation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More advanced statistical tests could improve the analysis</a:t>
            </a:r>
            <a:endParaRPr lang="en-US" sz="1450" dirty="0"/>
          </a:p>
        </p:txBody>
      </p:sp>
      <p:sp>
        <p:nvSpPr>
          <p:cNvPr id="8" name="Shape 6"/>
          <p:cNvSpPr/>
          <p:nvPr/>
        </p:nvSpPr>
        <p:spPr>
          <a:xfrm>
            <a:off x="6537960" y="1325880"/>
            <a:ext cx="4480560" cy="2880360"/>
          </a:xfrm>
          <a:prstGeom prst="roundRect">
            <a:avLst>
              <a:gd name="adj" fmla="val 2540"/>
            </a:avLst>
          </a:prstGeom>
          <a:solidFill>
            <a:srgbClr val="0F2742"/>
          </a:solidFill>
          <a:ln w="12700">
            <a:solidFill>
              <a:srgbClr val="0F2742"/>
            </a:solidFill>
            <a:prstDash val="solid"/>
          </a:ln>
        </p:spPr>
      </p:sp>
      <p:sp>
        <p:nvSpPr>
          <p:cNvPr id="9" name="Text 7"/>
          <p:cNvSpPr/>
          <p:nvPr/>
        </p:nvSpPr>
        <p:spPr>
          <a:xfrm>
            <a:off x="6903720" y="1691640"/>
            <a:ext cx="2286000" cy="274320"/>
          </a:xfrm>
          <a:prstGeom prst="rect">
            <a:avLst/>
          </a:prstGeom>
          <a:noFill/>
          <a:ln/>
        </p:spPr>
        <p:txBody>
          <a:bodyPr wrap="square" rtlCol="0" anchor="ctr"/>
          <a:lstStyle/>
          <a:p>
            <a:pPr indent="0" marL="0">
              <a:buNone/>
            </a:pPr>
            <a:r>
              <a:rPr lang="en-US" sz="1300" b="1" dirty="0">
                <a:solidFill>
                  <a:srgbClr val="D4A017"/>
                </a:solidFill>
              </a:rPr>
              <a:t>Final message</a:t>
            </a:r>
            <a:endParaRPr lang="en-US" sz="1300" dirty="0"/>
          </a:p>
        </p:txBody>
      </p:sp>
      <p:sp>
        <p:nvSpPr>
          <p:cNvPr id="10" name="Text 8"/>
          <p:cNvSpPr/>
          <p:nvPr/>
        </p:nvSpPr>
        <p:spPr>
          <a:xfrm>
            <a:off x="6903720" y="2148840"/>
            <a:ext cx="3794760" cy="1389888"/>
          </a:xfrm>
          <a:prstGeom prst="rect">
            <a:avLst/>
          </a:prstGeom>
          <a:noFill/>
          <a:ln/>
        </p:spPr>
        <p:txBody>
          <a:bodyPr wrap="square" rtlCol="0" anchor="ctr">
            <a:normAutofit/>
          </a:bodyPr>
          <a:lstStyle/>
          <a:p>
            <a:pPr indent="0" marL="0">
              <a:buNone/>
            </a:pPr>
            <a:r>
              <a:rPr lang="en-US" sz="1800" b="1" dirty="0">
                <a:solidFill>
                  <a:srgbClr val="FFFFFF"/>
                </a:solidFill>
              </a:rPr>
              <a:t>The project is not a prediction model. It is a clear data analysis project that connects real market data, events, indicators, and visual conclusions.</a:t>
            </a:r>
            <a:endParaRPr lang="en-US" sz="1800" dirty="0"/>
          </a:p>
        </p:txBody>
      </p:sp>
      <p:sp>
        <p:nvSpPr>
          <p:cNvPr id="11" name="Shape 9"/>
          <p:cNvSpPr/>
          <p:nvPr/>
        </p:nvSpPr>
        <p:spPr>
          <a:xfrm>
            <a:off x="1005840" y="4754880"/>
            <a:ext cx="10012680" cy="731520"/>
          </a:xfrm>
          <a:prstGeom prst="roundRect">
            <a:avLst>
              <a:gd name="adj" fmla="val 10000"/>
            </a:avLst>
          </a:prstGeom>
          <a:solidFill>
            <a:srgbClr val="FFFFFF"/>
          </a:solidFill>
          <a:ln w="11430">
            <a:solidFill>
              <a:srgbClr val="DDE4EB"/>
            </a:solidFill>
            <a:prstDash val="solid"/>
          </a:ln>
          <a:effectLst>
            <a:outerShdw sx="100000" sy="100000" kx="0" ky="0" algn="bl" rotWithShape="0" blurRad="19050" dist="50800" dir="2700000">
              <a:srgbClr val="D0D7DE">
                <a:alpha val="18000"/>
              </a:srgbClr>
            </a:outerShdw>
          </a:effectLst>
        </p:spPr>
      </p:sp>
      <p:sp>
        <p:nvSpPr>
          <p:cNvPr id="12" name="Shape 10"/>
          <p:cNvSpPr/>
          <p:nvPr/>
        </p:nvSpPr>
        <p:spPr>
          <a:xfrm>
            <a:off x="1005840" y="4754880"/>
            <a:ext cx="73152" cy="731520"/>
          </a:xfrm>
          <a:prstGeom prst="rect">
            <a:avLst/>
          </a:prstGeom>
          <a:solidFill>
            <a:srgbClr val="2E7D32"/>
          </a:solidFill>
          <a:ln w="12700">
            <a:solidFill>
              <a:srgbClr val="2E7D32"/>
            </a:solidFill>
            <a:prstDash val="solid"/>
          </a:ln>
        </p:spPr>
      </p:sp>
      <p:sp>
        <p:nvSpPr>
          <p:cNvPr id="13" name="Text 11"/>
          <p:cNvSpPr/>
          <p:nvPr/>
        </p:nvSpPr>
        <p:spPr>
          <a:xfrm>
            <a:off x="1207008" y="4901184"/>
            <a:ext cx="9692640" cy="256032"/>
          </a:xfrm>
          <a:prstGeom prst="rect">
            <a:avLst/>
          </a:prstGeom>
          <a:noFill/>
          <a:ln/>
        </p:spPr>
        <p:txBody>
          <a:bodyPr wrap="square" rtlCol="0" anchor="ctr">
            <a:normAutofit/>
          </a:bodyPr>
          <a:lstStyle/>
          <a:p>
            <a:pPr indent="0" marL="0">
              <a:buNone/>
            </a:pPr>
            <a:r>
              <a:rPr lang="en-US" sz="1250" b="1" dirty="0">
                <a:solidFill>
                  <a:srgbClr val="0F2742"/>
                </a:solidFill>
                <a:latin typeface="Arial" pitchFamily="34" charset="0"/>
                <a:ea typeface="Arial" pitchFamily="34" charset="-122"/>
                <a:cs typeface="Arial" pitchFamily="34" charset="-120"/>
              </a:rPr>
              <a:t>Thank you</a:t>
            </a:r>
            <a:endParaRPr lang="en-US" sz="1250" dirty="0"/>
          </a:p>
        </p:txBody>
      </p:sp>
      <p:sp>
        <p:nvSpPr>
          <p:cNvPr id="14" name="Text 12"/>
          <p:cNvSpPr/>
          <p:nvPr/>
        </p:nvSpPr>
        <p:spPr>
          <a:xfrm>
            <a:off x="1207008" y="5257800"/>
            <a:ext cx="9692640" cy="137160"/>
          </a:xfrm>
          <a:prstGeom prst="rect">
            <a:avLst/>
          </a:prstGeom>
          <a:noFill/>
          <a:ln/>
        </p:spPr>
        <p:txBody>
          <a:bodyPr wrap="square" rtlCol="0" anchor="t">
            <a:normAutofit/>
          </a:bodyPr>
          <a:lstStyle/>
          <a:p>
            <a:pPr indent="0" marL="0">
              <a:buNone/>
            </a:pPr>
            <a:r>
              <a:rPr lang="en-US" sz="1050" dirty="0">
                <a:solidFill>
                  <a:srgbClr val="5B6770"/>
                </a:solidFill>
                <a:latin typeface="Arial" pitchFamily="34" charset="0"/>
                <a:ea typeface="Arial" pitchFamily="34" charset="-122"/>
                <a:cs typeface="Arial" pitchFamily="34" charset="-120"/>
              </a:rPr>
              <a:t>Questions?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Data Science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Iran War-Related Events on Oil, Gold, and EUR/USD Markets</dc:title>
  <dc:subject>Introductory Data Science Project</dc:subject>
  <dc:creator>Yas</dc:creator>
  <cp:lastModifiedBy>Yas</cp:lastModifiedBy>
  <cp:revision>1</cp:revision>
  <dcterms:created xsi:type="dcterms:W3CDTF">2026-05-21T08:58:08Z</dcterms:created>
  <dcterms:modified xsi:type="dcterms:W3CDTF">2026-05-21T08:58:08Z</dcterms:modified>
</cp:coreProperties>
</file>